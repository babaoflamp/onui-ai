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0.xml" ContentType="application/vnd.openxmlformats-officedocument.presentationml.notesSlide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>
      <a:defRPr sz="1800" kern="1200">
        <a:solidFill>
          <a:srgbClr val="FFFFFF"/>
        </a:solidFill>
        <a:latin typeface="Pretendard"/>
        <a:ea typeface="Pretendard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7680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1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2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3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4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5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6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7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8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9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페이퍼로지 6 SemiBold" pitchFamily="2" charset="-127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latin typeface="페이퍼로지 6 SemiBold" pitchFamily="2" charset="-127"/>
              </a:rPr>
              <a:t>10</a:t>
            </a:fld>
            <a:endParaRPr lang="en-US">
              <a:latin typeface="페이퍼로지 6 Semi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1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1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5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6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8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9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0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1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3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4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>
              <a:alpha val="8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6744000" y="0"/>
            <a:ext cx="2400000" cy="5143500"/>
          </a:xfrm>
          <a:prstGeom prst="rect">
            <a:avLst/>
          </a:prstGeom>
          <a:solidFill>
            <a:srgbClr val="151515">
              <a:alpha val="68000"/>
            </a:srgbClr>
          </a:solidFill>
          <a:ln>
            <a:noFill/>
          </a:ln>
        </p:spPr>
        <p:txBody>
          <a:bodyPr/>
          <a:lstStyle/>
          <a:p/>
        </p:txBody>
      </p:sp>
      <p:pic>
        <p:nvPicPr>
          <p:cNvPr id="6" name="Screenshot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000" y="520000"/>
            <a:ext cx="3900000" cy="2440000"/>
          </a:xfrm>
          <a:prstGeom prst="rect">
            <a:avLst/>
          </a:prstGeom>
          <a:ln w="12700">
            <a:solidFill>
              <a:srgbClr val="2A2A2A"/>
            </a:solidFill>
          </a:ln>
        </p:spPr>
      </p:pic>
      <p:sp>
        <p:nvSpPr>
          <p:cNvPr id="7" name="TextBox 7"/>
          <p:cNvSpPr txBox="1"/>
          <p:nvPr/>
        </p:nvSpPr>
        <p:spPr>
          <a:xfrm>
            <a:off x="5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 b="1">
                <a:solidFill>
                  <a:srgbClr val="F97316"/>
                </a:solidFill>
                <a:latin typeface="Pretendard"/>
                <a:ea typeface="Pretendard"/>
              </a:rPr>
              <a:t>NEXT-GEN SPEECH AI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0000" y="790000"/>
            <a:ext cx="36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400" b="1">
                <a:solidFill>
                  <a:srgbClr val="FFFFFF"/>
                </a:solidFill>
                <a:latin typeface="Pretendard"/>
                <a:ea typeface="Pretendard"/>
              </a:rPr>
              <a:t>ONUI</a:t>
            </a:r>
          </a:p>
          <a:p>
            <a:pPr algn="l"/>
            <a:r>
              <a:rPr lang="ko-KR" sz="3000" b="1">
                <a:solidFill>
                  <a:srgbClr val="FFFFFF"/>
                </a:solidFill>
                <a:latin typeface="Pretendard"/>
                <a:ea typeface="Pretendard"/>
              </a:rPr>
              <a:t>AI Speech Intelligence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40000" y="1700000"/>
            <a:ext cx="34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50" b="0">
                <a:solidFill>
                  <a:srgbClr val="D6D6D6"/>
                </a:solidFill>
                <a:latin typeface="Pretendard"/>
                <a:ea typeface="Pretendard"/>
              </a:rPr>
              <a:t>발음 AI부터 회화·영상·K-Pop·맞춤 교재까지 한 곳에서 완성하는 AI 한국어 학습 플랫폼</a:t>
            </a:r>
          </a:p>
        </p:txBody>
      </p:sp>
      <p:sp>
        <p:nvSpPr>
          <p:cNvPr id="10" name="Shape 10"/>
          <p:cNvSpPr/>
          <p:nvPr/>
        </p:nvSpPr>
        <p:spPr>
          <a:xfrm>
            <a:off x="540000" y="261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700000" y="254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SpeechPro 기반 음소 단위 정밀 분석</a:t>
            </a:r>
          </a:p>
        </p:txBody>
      </p:sp>
      <p:sp>
        <p:nvSpPr>
          <p:cNvPr id="12" name="Shape 12"/>
          <p:cNvSpPr/>
          <p:nvPr/>
        </p:nvSpPr>
        <p:spPr>
          <a:xfrm>
            <a:off x="540000" y="304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700000" y="297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4개 언어 UI와 생성형 AI 학습 경험</a:t>
            </a:r>
          </a:p>
        </p:txBody>
      </p:sp>
      <p:sp>
        <p:nvSpPr>
          <p:cNvPr id="14" name="Shape 14"/>
          <p:cNvSpPr/>
          <p:nvPr/>
        </p:nvSpPr>
        <p:spPr>
          <a:xfrm>
            <a:off x="540000" y="347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700000" y="340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학습 데이터 기반 성장 리포트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0000" y="4240000"/>
            <a:ext cx="8050000" cy="420000"/>
          </a:xfrm>
          <a:prstGeom prst="roundRect">
            <a:avLst/>
          </a:prstGeom>
          <a:solidFill>
            <a:srgbClr val="1A1A1A"/>
          </a:solidFill>
          <a:ln>
            <a:solidFill>
              <a:srgbClr val="333333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20" b="1">
                <a:solidFill>
                  <a:srgbClr val="FFFFFF"/>
                </a:solidFill>
                <a:latin typeface="Pretendard"/>
                <a:ea typeface="Pretendard"/>
              </a:rPr>
              <a:t>Learn Korean Like Me - 기관과 학습자가 함께 쓰는 통합 한국어 AI 플랫폼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0000" y="4860000"/>
            <a:ext cx="26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ONUI AI Speech Intelligence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00000" y="4860000"/>
            <a:ext cx="5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>
              <a:alpha val="8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6744000" y="0"/>
            <a:ext cx="2400000" cy="5143500"/>
          </a:xfrm>
          <a:prstGeom prst="rect">
            <a:avLst/>
          </a:prstGeom>
          <a:solidFill>
            <a:srgbClr val="151515">
              <a:alpha val="6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5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 b="1">
                <a:solidFill>
                  <a:srgbClr val="F97316"/>
                </a:solidFill>
                <a:latin typeface="Pretendard"/>
                <a:ea typeface="Pretendard"/>
              </a:rPr>
              <a:t>THE OPPORTUNITY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0000" y="790000"/>
            <a:ext cx="80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400" b="1">
                <a:solidFill>
                  <a:srgbClr val="FFFFFF"/>
                </a:solidFill>
                <a:latin typeface="Pretendard"/>
                <a:ea typeface="Pretendard"/>
              </a:rPr>
              <a:t>왜 지금 ONUI인가?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0000" y="1700000"/>
            <a:ext cx="76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50" b="0">
                <a:solidFill>
                  <a:srgbClr val="D6D6D6"/>
                </a:solidFill>
                <a:latin typeface="Pretendard"/>
                <a:ea typeface="Pretendard"/>
              </a:rPr>
              <a:t>K-콘텐츠 확산으로 한국어 학습 수요는 커졌지만, 기존 학습은 발음 피드백과 실전 대화 경험이 부족합니다.</a:t>
            </a:r>
          </a:p>
        </p:txBody>
      </p:sp>
      <p:sp>
        <p:nvSpPr>
          <p:cNvPr id="9" name="Shape 9"/>
          <p:cNvSpPr/>
          <p:nvPr/>
        </p:nvSpPr>
        <p:spPr>
          <a:xfrm>
            <a:off x="540000" y="261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700000" y="2540000"/>
            <a:ext cx="76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일방향 콘텐츠만으로는 말하기 실력 향상이 제한적</a:t>
            </a:r>
          </a:p>
        </p:txBody>
      </p:sp>
      <p:sp>
        <p:nvSpPr>
          <p:cNvPr id="11" name="Shape 11"/>
          <p:cNvSpPr/>
          <p:nvPr/>
        </p:nvSpPr>
        <p:spPr>
          <a:xfrm>
            <a:off x="540000" y="304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0000" y="2970000"/>
            <a:ext cx="76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원어민 피드백을 상시 제공하기 어려운 교육 현장</a:t>
            </a:r>
          </a:p>
        </p:txBody>
      </p:sp>
      <p:sp>
        <p:nvSpPr>
          <p:cNvPr id="13" name="Shape 13"/>
          <p:cNvSpPr/>
          <p:nvPr/>
        </p:nvSpPr>
        <p:spPr>
          <a:xfrm>
            <a:off x="540000" y="347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00000" y="3400000"/>
            <a:ext cx="76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학습자별 수준·관심사·취약점에 맞춘 콘텐츠 부족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0000" y="4240000"/>
            <a:ext cx="8050000" cy="420000"/>
          </a:xfrm>
          <a:prstGeom prst="roundRect">
            <a:avLst/>
          </a:prstGeom>
          <a:solidFill>
            <a:srgbClr val="1A1A1A"/>
          </a:solidFill>
          <a:ln>
            <a:solidFill>
              <a:srgbClr val="333333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20" b="1">
                <a:solidFill>
                  <a:srgbClr val="FFFFFF"/>
                </a:solidFill>
                <a:latin typeface="Pretendard"/>
                <a:ea typeface="Pretendard"/>
              </a:rPr>
              <a:t>ONUI는 AI 평가·대화·콘텐츠 생성을 결합해 학습 지속성과 말하기 성과를 동시에 높입니다.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20000" y="4860000"/>
            <a:ext cx="26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ONUI AI Speech Intelligence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100000" y="4860000"/>
            <a:ext cx="5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>
              <a:alpha val="8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6744000" y="0"/>
            <a:ext cx="2400000" cy="5143500"/>
          </a:xfrm>
          <a:prstGeom prst="rect">
            <a:avLst/>
          </a:prstGeom>
          <a:solidFill>
            <a:srgbClr val="151515">
              <a:alpha val="6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4100000" y="820000"/>
            <a:ext cx="4480000" cy="2820000"/>
          </a:xfrm>
          <a:prstGeom prst="roundRect">
            <a:avLst/>
          </a:prstGeom>
          <a:solidFill>
            <a:srgbClr val="0B0B0B"/>
          </a:solidFill>
          <a:ln>
            <a:solidFill>
              <a:srgbClr val="343434"/>
            </a:solidFill>
          </a:ln>
        </p:spPr>
        <p:txBody>
          <a:bodyPr/>
          <a:lstStyle/>
          <a:p/>
        </p:txBody>
      </p:sp>
      <p:pic>
        <p:nvPicPr>
          <p:cNvPr id="7" name="Screenshot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000" y="960000"/>
            <a:ext cx="4200000" cy="2625000"/>
          </a:xfrm>
          <a:prstGeom prst="rect">
            <a:avLst/>
          </a:prstGeom>
          <a:ln w="12700">
            <a:solidFill>
              <a:srgbClr val="2A2A2A"/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5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 b="1">
                <a:solidFill>
                  <a:srgbClr val="F97316"/>
                </a:solidFill>
                <a:latin typeface="Pretendard"/>
                <a:ea typeface="Pretendard"/>
              </a:rPr>
              <a:t>PRODUCT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790000"/>
            <a:ext cx="36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400" b="1">
                <a:solidFill>
                  <a:srgbClr val="FFFFFF"/>
                </a:solidFill>
                <a:latin typeface="Pretendard"/>
                <a:ea typeface="Pretendard"/>
              </a:rPr>
              <a:t>All-in-One 한국어 학습 플랫폼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0000" y="1700000"/>
            <a:ext cx="34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50" b="0">
                <a:solidFill>
                  <a:srgbClr val="D6D6D6"/>
                </a:solidFill>
                <a:latin typeface="Pretendard"/>
                <a:ea typeface="Pretendard"/>
              </a:rPr>
              <a:t>하나의 대시보드에서 진단, 학습, 실전 연습, 분석까지 이어지는 완성형 학습 여정을 제공합니다.</a:t>
            </a:r>
          </a:p>
        </p:txBody>
      </p:sp>
      <p:sp>
        <p:nvSpPr>
          <p:cNvPr id="11" name="Shape 11"/>
          <p:cNvSpPr/>
          <p:nvPr/>
        </p:nvSpPr>
        <p:spPr>
          <a:xfrm>
            <a:off x="540000" y="261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0000" y="254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발음: SpeechPro 기반 점수와 교정 포인트 제공</a:t>
            </a:r>
          </a:p>
        </p:txBody>
      </p:sp>
      <p:sp>
        <p:nvSpPr>
          <p:cNvPr id="13" name="Shape 13"/>
          <p:cNvSpPr/>
          <p:nvPr/>
        </p:nvSpPr>
        <p:spPr>
          <a:xfrm>
            <a:off x="540000" y="304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00000" y="297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몰입 학습: 영상·음악·표현 카드로 흥미 유지</a:t>
            </a:r>
          </a:p>
        </p:txBody>
      </p:sp>
      <p:sp>
        <p:nvSpPr>
          <p:cNvPr id="15" name="Shape 15"/>
          <p:cNvSpPr/>
          <p:nvPr/>
        </p:nvSpPr>
        <p:spPr>
          <a:xfrm>
            <a:off x="540000" y="347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00000" y="340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AI 도구: 회화·역할극·문법·교재 생성까지 확장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0000" y="4240000"/>
            <a:ext cx="8050000" cy="420000"/>
          </a:xfrm>
          <a:prstGeom prst="roundRect">
            <a:avLst/>
          </a:prstGeom>
          <a:solidFill>
            <a:srgbClr val="1A1A1A"/>
          </a:solidFill>
          <a:ln>
            <a:solidFill>
              <a:srgbClr val="333333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20" b="1">
                <a:solidFill>
                  <a:srgbClr val="FFFFFF"/>
                </a:solidFill>
                <a:latin typeface="Pretendard"/>
                <a:ea typeface="Pretendard"/>
              </a:rPr>
              <a:t>기관은 운영 효율을, 학습자는 개인화된 한국어 학습 경험을 얻습니다.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000" y="4860000"/>
            <a:ext cx="26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ONUI AI Speech Intelligence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00000" y="4860000"/>
            <a:ext cx="5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>
              <a:alpha val="8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6744000" y="0"/>
            <a:ext cx="2400000" cy="5143500"/>
          </a:xfrm>
          <a:prstGeom prst="rect">
            <a:avLst/>
          </a:prstGeom>
          <a:solidFill>
            <a:srgbClr val="151515">
              <a:alpha val="6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4100000" y="820000"/>
            <a:ext cx="4480000" cy="2820000"/>
          </a:xfrm>
          <a:prstGeom prst="roundRect">
            <a:avLst/>
          </a:prstGeom>
          <a:solidFill>
            <a:srgbClr val="0B0B0B"/>
          </a:solidFill>
          <a:ln>
            <a:solidFill>
              <a:srgbClr val="343434"/>
            </a:solidFill>
          </a:ln>
        </p:spPr>
        <p:txBody>
          <a:bodyPr/>
          <a:lstStyle/>
          <a:p/>
        </p:txBody>
      </p:sp>
      <p:pic>
        <p:nvPicPr>
          <p:cNvPr id="7" name="Screenshot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000" y="960000"/>
            <a:ext cx="4200000" cy="2625000"/>
          </a:xfrm>
          <a:prstGeom prst="rect">
            <a:avLst/>
          </a:prstGeom>
          <a:ln w="12700">
            <a:solidFill>
              <a:srgbClr val="2A2A2A"/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5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 b="1">
                <a:solidFill>
                  <a:srgbClr val="F97316"/>
                </a:solidFill>
                <a:latin typeface="Pretendard"/>
                <a:ea typeface="Pretendard"/>
              </a:rPr>
              <a:t>DASHBOARD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790000"/>
            <a:ext cx="36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400" b="1">
                <a:solidFill>
                  <a:srgbClr val="FFFFFF"/>
                </a:solidFill>
                <a:latin typeface="Pretendard"/>
                <a:ea typeface="Pretendard"/>
              </a:rPr>
              <a:t>학습 대시보드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0000" y="1700000"/>
            <a:ext cx="34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50" b="0">
                <a:solidFill>
                  <a:srgbClr val="D6D6D6"/>
                </a:solidFill>
                <a:latin typeface="Pretendard"/>
                <a:ea typeface="Pretendard"/>
              </a:rPr>
              <a:t>학습 현황과 추천 트랙을 한눈에 보여주어 다음 행동을 자연스럽게 유도합니다.</a:t>
            </a:r>
          </a:p>
        </p:txBody>
      </p:sp>
      <p:sp>
        <p:nvSpPr>
          <p:cNvPr id="11" name="Shape 11"/>
          <p:cNvSpPr/>
          <p:nvPr/>
        </p:nvSpPr>
        <p:spPr>
          <a:xfrm>
            <a:off x="540000" y="261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0000" y="254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최근 발음 평가와 OnuiTube 어휘 기록 확인</a:t>
            </a:r>
          </a:p>
        </p:txBody>
      </p:sp>
      <p:sp>
        <p:nvSpPr>
          <p:cNvPr id="13" name="Shape 13"/>
          <p:cNvSpPr/>
          <p:nvPr/>
        </p:nvSpPr>
        <p:spPr>
          <a:xfrm>
            <a:off x="540000" y="304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00000" y="297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스트릭·평균 점수·평가 횟수로 학습 동기 강화</a:t>
            </a:r>
          </a:p>
        </p:txBody>
      </p:sp>
      <p:sp>
        <p:nvSpPr>
          <p:cNvPr id="15" name="Shape 15"/>
          <p:cNvSpPr/>
          <p:nvPr/>
        </p:nvSpPr>
        <p:spPr>
          <a:xfrm>
            <a:off x="540000" y="347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00000" y="340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주요 학습 메뉴로 바로 이동하는 허브 역할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0000" y="4240000"/>
            <a:ext cx="8050000" cy="420000"/>
          </a:xfrm>
          <a:prstGeom prst="roundRect">
            <a:avLst/>
          </a:prstGeom>
          <a:solidFill>
            <a:srgbClr val="1A1A1A"/>
          </a:solidFill>
          <a:ln>
            <a:solidFill>
              <a:srgbClr val="333333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20" b="1">
                <a:solidFill>
                  <a:srgbClr val="FFFFFF"/>
                </a:solidFill>
                <a:latin typeface="Pretendard"/>
                <a:ea typeface="Pretendard"/>
              </a:rPr>
              <a:t>학습 시작과 재방문을 높이는 ONUI의 메인 허브입니다.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000" y="4860000"/>
            <a:ext cx="26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ONUI AI Speech Intelligence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00000" y="4860000"/>
            <a:ext cx="5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>
              <a:alpha val="8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6744000" y="0"/>
            <a:ext cx="2400000" cy="5143500"/>
          </a:xfrm>
          <a:prstGeom prst="rect">
            <a:avLst/>
          </a:prstGeom>
          <a:solidFill>
            <a:srgbClr val="151515">
              <a:alpha val="6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4100000" y="820000"/>
            <a:ext cx="4480000" cy="2820000"/>
          </a:xfrm>
          <a:prstGeom prst="roundRect">
            <a:avLst/>
          </a:prstGeom>
          <a:solidFill>
            <a:srgbClr val="0B0B0B"/>
          </a:solidFill>
          <a:ln>
            <a:solidFill>
              <a:srgbClr val="343434"/>
            </a:solidFill>
          </a:ln>
        </p:spPr>
        <p:txBody>
          <a:bodyPr/>
          <a:lstStyle/>
          <a:p/>
        </p:txBody>
      </p:sp>
      <p:pic>
        <p:nvPicPr>
          <p:cNvPr id="7" name="Screenshot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000" y="960000"/>
            <a:ext cx="4200000" cy="2625000"/>
          </a:xfrm>
          <a:prstGeom prst="rect">
            <a:avLst/>
          </a:prstGeom>
          <a:ln w="12700">
            <a:solidFill>
              <a:srgbClr val="2A2A2A"/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5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 b="1">
                <a:solidFill>
                  <a:srgbClr val="F97316"/>
                </a:solidFill>
                <a:latin typeface="Pretendard"/>
                <a:ea typeface="Pretendard"/>
              </a:rPr>
              <a:t>SPEECHPRO EVAL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790000"/>
            <a:ext cx="36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400" b="1">
                <a:solidFill>
                  <a:srgbClr val="FFFFFF"/>
                </a:solidFill>
                <a:latin typeface="Pretendard"/>
                <a:ea typeface="Pretendard"/>
              </a:rPr>
              <a:t>음소 단위 발음 평가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0000" y="1700000"/>
            <a:ext cx="34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50" b="0">
                <a:solidFill>
                  <a:srgbClr val="D6D6D6"/>
                </a:solidFill>
                <a:latin typeface="Pretendard"/>
                <a:ea typeface="Pretendard"/>
              </a:rPr>
              <a:t>문장을 선택하고 녹음하면 AI가 한국어 발음을 세밀하게 분석합니다.</a:t>
            </a:r>
          </a:p>
        </p:txBody>
      </p:sp>
      <p:sp>
        <p:nvSpPr>
          <p:cNvPr id="11" name="Shape 11"/>
          <p:cNvSpPr/>
          <p:nvPr/>
        </p:nvSpPr>
        <p:spPr>
          <a:xfrm>
            <a:off x="540000" y="261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0000" y="254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A1~B2 레벨별 문장으로 단계적 연습 가능</a:t>
            </a:r>
          </a:p>
        </p:txBody>
      </p:sp>
      <p:sp>
        <p:nvSpPr>
          <p:cNvPr id="13" name="Shape 13"/>
          <p:cNvSpPr/>
          <p:nvPr/>
        </p:nvSpPr>
        <p:spPr>
          <a:xfrm>
            <a:off x="540000" y="304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00000" y="297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녹음-평가-피드백 흐름을 단순화해 반복 학습 유도</a:t>
            </a:r>
          </a:p>
        </p:txBody>
      </p:sp>
      <p:sp>
        <p:nvSpPr>
          <p:cNvPr id="15" name="Shape 15"/>
          <p:cNvSpPr/>
          <p:nvPr/>
        </p:nvSpPr>
        <p:spPr>
          <a:xfrm>
            <a:off x="540000" y="347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00000" y="340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정량 점수와 교정 문구로 학습자가 즉시 개선 가능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0000" y="4240000"/>
            <a:ext cx="8050000" cy="420000"/>
          </a:xfrm>
          <a:prstGeom prst="roundRect">
            <a:avLst/>
          </a:prstGeom>
          <a:solidFill>
            <a:srgbClr val="1A1A1A"/>
          </a:solidFill>
          <a:ln>
            <a:solidFill>
              <a:srgbClr val="333333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20" b="1">
                <a:solidFill>
                  <a:srgbClr val="FFFFFF"/>
                </a:solidFill>
                <a:latin typeface="Pretendard"/>
                <a:ea typeface="Pretendard"/>
              </a:rPr>
              <a:t>ONUI의 핵심 차별점인 발음 정밀 분석을 가장 직접적으로 경험하는 메뉴입니다.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000" y="4860000"/>
            <a:ext cx="26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ONUI AI Speech Intelligence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00000" y="4860000"/>
            <a:ext cx="5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>
              <a:alpha val="8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6744000" y="0"/>
            <a:ext cx="2400000" cy="5143500"/>
          </a:xfrm>
          <a:prstGeom prst="rect">
            <a:avLst/>
          </a:prstGeom>
          <a:solidFill>
            <a:srgbClr val="151515">
              <a:alpha val="6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4100000" y="820000"/>
            <a:ext cx="4480000" cy="2820000"/>
          </a:xfrm>
          <a:prstGeom prst="roundRect">
            <a:avLst/>
          </a:prstGeom>
          <a:solidFill>
            <a:srgbClr val="0B0B0B"/>
          </a:solidFill>
          <a:ln>
            <a:solidFill>
              <a:srgbClr val="343434"/>
            </a:solidFill>
          </a:ln>
        </p:spPr>
        <p:txBody>
          <a:bodyPr/>
          <a:lstStyle/>
          <a:p/>
        </p:txBody>
      </p:sp>
      <p:pic>
        <p:nvPicPr>
          <p:cNvPr id="7" name="Screenshot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000" y="960000"/>
            <a:ext cx="4200000" cy="2625000"/>
          </a:xfrm>
          <a:prstGeom prst="rect">
            <a:avLst/>
          </a:prstGeom>
          <a:ln w="12700">
            <a:solidFill>
              <a:srgbClr val="2A2A2A"/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5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 b="1">
                <a:solidFill>
                  <a:srgbClr val="F97316"/>
                </a:solidFill>
                <a:latin typeface="Pretendard"/>
                <a:ea typeface="Pretendard"/>
              </a:rPr>
              <a:t>PRECISION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790000"/>
            <a:ext cx="36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400" b="1">
                <a:solidFill>
                  <a:srgbClr val="FFFFFF"/>
                </a:solidFill>
                <a:latin typeface="Pretendard"/>
                <a:ea typeface="Pretendard"/>
              </a:rPr>
              <a:t>평가 리포트와 교정 포인트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0000" y="1700000"/>
            <a:ext cx="34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50" b="0">
                <a:solidFill>
                  <a:srgbClr val="D6D6D6"/>
                </a:solidFill>
                <a:latin typeface="Pretendard"/>
                <a:ea typeface="Pretendard"/>
              </a:rPr>
              <a:t>단순 총점이 아니라 음절·음소 수준의 오류를 시각적으로 보여줍니다.</a:t>
            </a:r>
          </a:p>
        </p:txBody>
      </p:sp>
      <p:sp>
        <p:nvSpPr>
          <p:cNvPr id="11" name="Shape 11"/>
          <p:cNvSpPr/>
          <p:nvPr/>
        </p:nvSpPr>
        <p:spPr>
          <a:xfrm>
            <a:off x="540000" y="261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0000" y="254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정확도·유창성·완성도 등 복합 지표 제공</a:t>
            </a:r>
          </a:p>
        </p:txBody>
      </p:sp>
      <p:sp>
        <p:nvSpPr>
          <p:cNvPr id="13" name="Shape 13"/>
          <p:cNvSpPr/>
          <p:nvPr/>
        </p:nvSpPr>
        <p:spPr>
          <a:xfrm>
            <a:off x="540000" y="304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00000" y="297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틀린 부분을 바로 확인해 재녹음과 재학습으로 연결</a:t>
            </a:r>
          </a:p>
        </p:txBody>
      </p:sp>
      <p:sp>
        <p:nvSpPr>
          <p:cNvPr id="15" name="Shape 15"/>
          <p:cNvSpPr/>
          <p:nvPr/>
        </p:nvSpPr>
        <p:spPr>
          <a:xfrm>
            <a:off x="540000" y="347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00000" y="340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교사 없이도 객관적인 발음 피드백 제공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0000" y="4240000"/>
            <a:ext cx="8050000" cy="420000"/>
          </a:xfrm>
          <a:prstGeom prst="roundRect">
            <a:avLst/>
          </a:prstGeom>
          <a:solidFill>
            <a:srgbClr val="1A1A1A"/>
          </a:solidFill>
          <a:ln>
            <a:solidFill>
              <a:srgbClr val="333333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20" b="1">
                <a:solidFill>
                  <a:srgbClr val="FFFFFF"/>
                </a:solidFill>
                <a:latin typeface="Pretendard"/>
                <a:ea typeface="Pretendard"/>
              </a:rPr>
              <a:t>학습자가 “어디를 고쳐야 하는지” 이해하게 만드는 리포트형 피드백입니다.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000" y="4860000"/>
            <a:ext cx="26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ONUI AI Speech Intelligence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00000" y="4860000"/>
            <a:ext cx="5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>
              <a:alpha val="8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6744000" y="0"/>
            <a:ext cx="2400000" cy="5143500"/>
          </a:xfrm>
          <a:prstGeom prst="rect">
            <a:avLst/>
          </a:prstGeom>
          <a:solidFill>
            <a:srgbClr val="151515">
              <a:alpha val="6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4100000" y="820000"/>
            <a:ext cx="4480000" cy="2820000"/>
          </a:xfrm>
          <a:prstGeom prst="roundRect">
            <a:avLst/>
          </a:prstGeom>
          <a:solidFill>
            <a:srgbClr val="0B0B0B"/>
          </a:solidFill>
          <a:ln>
            <a:solidFill>
              <a:srgbClr val="343434"/>
            </a:solidFill>
          </a:ln>
        </p:spPr>
        <p:txBody>
          <a:bodyPr/>
          <a:lstStyle/>
          <a:p/>
        </p:txBody>
      </p:sp>
      <p:pic>
        <p:nvPicPr>
          <p:cNvPr id="7" name="Screenshot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000" y="960000"/>
            <a:ext cx="4200000" cy="2625000"/>
          </a:xfrm>
          <a:prstGeom prst="rect">
            <a:avLst/>
          </a:prstGeom>
          <a:ln w="12700">
            <a:solidFill>
              <a:srgbClr val="2A2A2A"/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5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 b="1">
                <a:solidFill>
                  <a:srgbClr val="F97316"/>
                </a:solidFill>
                <a:latin typeface="Pretendard"/>
                <a:ea typeface="Pretendard"/>
              </a:rPr>
              <a:t>ONUITUBE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790000"/>
            <a:ext cx="36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400" b="1">
                <a:solidFill>
                  <a:srgbClr val="FFFFFF"/>
                </a:solidFill>
                <a:latin typeface="Pretendard"/>
                <a:ea typeface="Pretendard"/>
              </a:rPr>
              <a:t>영상 기반 이중자막 학습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0000" y="1700000"/>
            <a:ext cx="34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50" b="0">
                <a:solidFill>
                  <a:srgbClr val="D6D6D6"/>
                </a:solidFill>
                <a:latin typeface="Pretendard"/>
                <a:ea typeface="Pretendard"/>
              </a:rPr>
              <a:t>한국어 상황별 VOD를 보며 자막, 어휘, 문장 단위 학습을 함께 진행합니다.</a:t>
            </a:r>
          </a:p>
        </p:txBody>
      </p:sp>
      <p:sp>
        <p:nvSpPr>
          <p:cNvPr id="11" name="Shape 11"/>
          <p:cNvSpPr/>
          <p:nvPr/>
        </p:nvSpPr>
        <p:spPr>
          <a:xfrm>
            <a:off x="540000" y="261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0000" y="254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실생활 장면 기반 영상으로 표현 맥락 이해</a:t>
            </a:r>
          </a:p>
        </p:txBody>
      </p:sp>
      <p:sp>
        <p:nvSpPr>
          <p:cNvPr id="13" name="Shape 13"/>
          <p:cNvSpPr/>
          <p:nvPr/>
        </p:nvSpPr>
        <p:spPr>
          <a:xfrm>
            <a:off x="540000" y="304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00000" y="297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한/영 이중자막과 문장 이동 컨트롤 제공</a:t>
            </a:r>
          </a:p>
        </p:txBody>
      </p:sp>
      <p:sp>
        <p:nvSpPr>
          <p:cNvPr id="15" name="Shape 15"/>
          <p:cNvSpPr/>
          <p:nvPr/>
        </p:nvSpPr>
        <p:spPr>
          <a:xfrm>
            <a:off x="540000" y="347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00000" y="340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영상에서 배운 어휘를 학습 데이터로 축적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0000" y="4240000"/>
            <a:ext cx="8050000" cy="420000"/>
          </a:xfrm>
          <a:prstGeom prst="roundRect">
            <a:avLst/>
          </a:prstGeom>
          <a:solidFill>
            <a:srgbClr val="1A1A1A"/>
          </a:solidFill>
          <a:ln>
            <a:solidFill>
              <a:srgbClr val="333333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20" b="1">
                <a:solidFill>
                  <a:srgbClr val="FFFFFF"/>
                </a:solidFill>
                <a:latin typeface="Pretendard"/>
                <a:ea typeface="Pretendard"/>
              </a:rPr>
              <a:t>콘텐츠 소비를 실제 한국어 학습으로 전환하는 몰입형 메뉴입니다.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000" y="4860000"/>
            <a:ext cx="26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ONUI AI Speech Intelligence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00000" y="4860000"/>
            <a:ext cx="5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>
              <a:alpha val="8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6744000" y="0"/>
            <a:ext cx="2400000" cy="5143500"/>
          </a:xfrm>
          <a:prstGeom prst="rect">
            <a:avLst/>
          </a:prstGeom>
          <a:solidFill>
            <a:srgbClr val="151515">
              <a:alpha val="6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4100000" y="820000"/>
            <a:ext cx="4480000" cy="2820000"/>
          </a:xfrm>
          <a:prstGeom prst="roundRect">
            <a:avLst/>
          </a:prstGeom>
          <a:solidFill>
            <a:srgbClr val="0B0B0B"/>
          </a:solidFill>
          <a:ln>
            <a:solidFill>
              <a:srgbClr val="343434"/>
            </a:solidFill>
          </a:ln>
        </p:spPr>
        <p:txBody>
          <a:bodyPr/>
          <a:lstStyle/>
          <a:p/>
        </p:txBody>
      </p:sp>
      <p:pic>
        <p:nvPicPr>
          <p:cNvPr id="7" name="Screenshot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000" y="960000"/>
            <a:ext cx="4200000" cy="2625000"/>
          </a:xfrm>
          <a:prstGeom prst="rect">
            <a:avLst/>
          </a:prstGeom>
          <a:ln w="12700">
            <a:solidFill>
              <a:srgbClr val="2A2A2A"/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5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 b="1">
                <a:solidFill>
                  <a:srgbClr val="F97316"/>
                </a:solidFill>
                <a:latin typeface="Pretendard"/>
                <a:ea typeface="Pretendard"/>
              </a:rPr>
              <a:t>ONUI BEATS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790000"/>
            <a:ext cx="36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400" b="1">
                <a:solidFill>
                  <a:srgbClr val="FFFFFF"/>
                </a:solidFill>
                <a:latin typeface="Pretendard"/>
                <a:ea typeface="Pretendard"/>
              </a:rPr>
              <a:t>K-Pop 빈칸 학습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0000" y="1700000"/>
            <a:ext cx="34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50" b="0">
                <a:solidFill>
                  <a:srgbClr val="D6D6D6"/>
                </a:solidFill>
                <a:latin typeface="Pretendard"/>
                <a:ea typeface="Pretendard"/>
              </a:rPr>
              <a:t>노래를 들으며 가사 빈칸을 채우는 게임형 학습으로 어휘와 청취를 동시에 강화합니다.</a:t>
            </a:r>
          </a:p>
        </p:txBody>
      </p:sp>
      <p:sp>
        <p:nvSpPr>
          <p:cNvPr id="11" name="Shape 11"/>
          <p:cNvSpPr/>
          <p:nvPr/>
        </p:nvSpPr>
        <p:spPr>
          <a:xfrm>
            <a:off x="540000" y="261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0000" y="254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K-Pop 친화적 UX로 학습 진입 장벽 감소</a:t>
            </a:r>
          </a:p>
        </p:txBody>
      </p:sp>
      <p:sp>
        <p:nvSpPr>
          <p:cNvPr id="13" name="Shape 13"/>
          <p:cNvSpPr/>
          <p:nvPr/>
        </p:nvSpPr>
        <p:spPr>
          <a:xfrm>
            <a:off x="540000" y="304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00000" y="297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듣기·철자·어휘 기억을 한 화면에서 훈련</a:t>
            </a:r>
          </a:p>
        </p:txBody>
      </p:sp>
      <p:sp>
        <p:nvSpPr>
          <p:cNvPr id="15" name="Shape 15"/>
          <p:cNvSpPr/>
          <p:nvPr/>
        </p:nvSpPr>
        <p:spPr>
          <a:xfrm>
            <a:off x="540000" y="347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00000" y="340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정답 확인과 힌트로 반복 참여 유도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0000" y="4240000"/>
            <a:ext cx="8050000" cy="420000"/>
          </a:xfrm>
          <a:prstGeom prst="roundRect">
            <a:avLst/>
          </a:prstGeom>
          <a:solidFill>
            <a:srgbClr val="1A1A1A"/>
          </a:solidFill>
          <a:ln>
            <a:solidFill>
              <a:srgbClr val="333333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20" b="1">
                <a:solidFill>
                  <a:srgbClr val="FFFFFF"/>
                </a:solidFill>
                <a:latin typeface="Pretendard"/>
                <a:ea typeface="Pretendard"/>
              </a:rPr>
              <a:t>학습을 놀이처럼 느끼게 해 지속 시간을 늘리는 엔터테인먼트형 학습 기능입니다.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000" y="4860000"/>
            <a:ext cx="26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ONUI AI Speech Intelligence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00000" y="4860000"/>
            <a:ext cx="5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>
              <a:alpha val="8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6744000" y="0"/>
            <a:ext cx="2400000" cy="5143500"/>
          </a:xfrm>
          <a:prstGeom prst="rect">
            <a:avLst/>
          </a:prstGeom>
          <a:solidFill>
            <a:srgbClr val="151515">
              <a:alpha val="6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4100000" y="820000"/>
            <a:ext cx="4480000" cy="2820000"/>
          </a:xfrm>
          <a:prstGeom prst="roundRect">
            <a:avLst/>
          </a:prstGeom>
          <a:solidFill>
            <a:srgbClr val="0B0B0B"/>
          </a:solidFill>
          <a:ln>
            <a:solidFill>
              <a:srgbClr val="343434"/>
            </a:solidFill>
          </a:ln>
        </p:spPr>
        <p:txBody>
          <a:bodyPr/>
          <a:lstStyle/>
          <a:p/>
        </p:txBody>
      </p:sp>
      <p:pic>
        <p:nvPicPr>
          <p:cNvPr id="7" name="Screenshot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000" y="960000"/>
            <a:ext cx="4200000" cy="2625000"/>
          </a:xfrm>
          <a:prstGeom prst="rect">
            <a:avLst/>
          </a:prstGeom>
          <a:ln w="12700">
            <a:solidFill>
              <a:srgbClr val="2A2A2A"/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5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 b="1">
                <a:solidFill>
                  <a:srgbClr val="F97316"/>
                </a:solidFill>
                <a:latin typeface="Pretendard"/>
                <a:ea typeface="Pretendard"/>
              </a:rPr>
              <a:t>AI VOICE CALL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790000"/>
            <a:ext cx="36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400" b="1">
                <a:solidFill>
                  <a:srgbClr val="FFFFFF"/>
                </a:solidFill>
                <a:latin typeface="Pretendard"/>
                <a:ea typeface="Pretendard"/>
              </a:rPr>
              <a:t>실시간 AI 음성 회화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0000" y="1700000"/>
            <a:ext cx="34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50" b="0">
                <a:solidFill>
                  <a:srgbClr val="D6D6D6"/>
                </a:solidFill>
                <a:latin typeface="Pretendard"/>
                <a:ea typeface="Pretendard"/>
              </a:rPr>
              <a:t>상황별 AI 튜터와 전화하듯 대화하며 실제 말하기 자신감을 키웁니다.</a:t>
            </a:r>
          </a:p>
        </p:txBody>
      </p:sp>
      <p:sp>
        <p:nvSpPr>
          <p:cNvPr id="11" name="Shape 11"/>
          <p:cNvSpPr/>
          <p:nvPr/>
        </p:nvSpPr>
        <p:spPr>
          <a:xfrm>
            <a:off x="540000" y="261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0000" y="254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STT-AI-TTS 흐름으로 자연스러운 음성 대화 구현</a:t>
            </a:r>
          </a:p>
        </p:txBody>
      </p:sp>
      <p:sp>
        <p:nvSpPr>
          <p:cNvPr id="13" name="Shape 13"/>
          <p:cNvSpPr/>
          <p:nvPr/>
        </p:nvSpPr>
        <p:spPr>
          <a:xfrm>
            <a:off x="540000" y="304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00000" y="297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카페·공항·병원 등 생활 밀착 시나리오 제공</a:t>
            </a:r>
          </a:p>
        </p:txBody>
      </p:sp>
      <p:sp>
        <p:nvSpPr>
          <p:cNvPr id="15" name="Shape 15"/>
          <p:cNvSpPr/>
          <p:nvPr/>
        </p:nvSpPr>
        <p:spPr>
          <a:xfrm>
            <a:off x="540000" y="347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00000" y="340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발화 부담을 줄여 반복 회화 연습에 적합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0000" y="4240000"/>
            <a:ext cx="8050000" cy="420000"/>
          </a:xfrm>
          <a:prstGeom prst="roundRect">
            <a:avLst/>
          </a:prstGeom>
          <a:solidFill>
            <a:srgbClr val="1A1A1A"/>
          </a:solidFill>
          <a:ln>
            <a:solidFill>
              <a:srgbClr val="333333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20" b="1">
                <a:solidFill>
                  <a:srgbClr val="FFFFFF"/>
                </a:solidFill>
                <a:latin typeface="Pretendard"/>
                <a:ea typeface="Pretendard"/>
              </a:rPr>
              <a:t>말하기 기회가 부족한 학습자에게 상시 대화 파트너를 제공합니다.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000" y="4860000"/>
            <a:ext cx="26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ONUI AI Speech Intelligence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00000" y="4860000"/>
            <a:ext cx="5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>
              <a:alpha val="8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6744000" y="0"/>
            <a:ext cx="2400000" cy="5143500"/>
          </a:xfrm>
          <a:prstGeom prst="rect">
            <a:avLst/>
          </a:prstGeom>
          <a:solidFill>
            <a:srgbClr val="151515">
              <a:alpha val="6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4100000" y="820000"/>
            <a:ext cx="4480000" cy="2820000"/>
          </a:xfrm>
          <a:prstGeom prst="roundRect">
            <a:avLst/>
          </a:prstGeom>
          <a:solidFill>
            <a:srgbClr val="0B0B0B"/>
          </a:solidFill>
          <a:ln>
            <a:solidFill>
              <a:srgbClr val="343434"/>
            </a:solidFill>
          </a:ln>
        </p:spPr>
        <p:txBody>
          <a:bodyPr/>
          <a:lstStyle/>
          <a:p/>
        </p:txBody>
      </p:sp>
      <p:pic>
        <p:nvPicPr>
          <p:cNvPr id="7" name="Screenshot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000" y="960000"/>
            <a:ext cx="4200000" cy="2625000"/>
          </a:xfrm>
          <a:prstGeom prst="rect">
            <a:avLst/>
          </a:prstGeom>
          <a:ln w="12700">
            <a:solidFill>
              <a:srgbClr val="2A2A2A"/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5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 b="1">
                <a:solidFill>
                  <a:srgbClr val="F97316"/>
                </a:solidFill>
                <a:latin typeface="Pretendard"/>
                <a:ea typeface="Pretendard"/>
              </a:rPr>
              <a:t>AI ROLEPLAY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790000"/>
            <a:ext cx="36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400" b="1">
                <a:solidFill>
                  <a:srgbClr val="FFFFFF"/>
                </a:solidFill>
                <a:latin typeface="Pretendard"/>
                <a:ea typeface="Pretendard"/>
              </a:rPr>
              <a:t>상황·인물 기반 역할극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0000" y="1700000"/>
            <a:ext cx="34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50" b="0">
                <a:solidFill>
                  <a:srgbClr val="D6D6D6"/>
                </a:solidFill>
                <a:latin typeface="Pretendard"/>
                <a:ea typeface="Pretendard"/>
              </a:rPr>
              <a:t>역사 인물과 실전 상황을 결합해 언어 학습과 문화 이해를 함께 제공합니다.</a:t>
            </a:r>
          </a:p>
        </p:txBody>
      </p:sp>
      <p:sp>
        <p:nvSpPr>
          <p:cNvPr id="11" name="Shape 11"/>
          <p:cNvSpPr/>
          <p:nvPr/>
        </p:nvSpPr>
        <p:spPr>
          <a:xfrm>
            <a:off x="540000" y="261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0000" y="254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세종대왕·이순신 등 한국 문화 IP와 대화</a:t>
            </a:r>
          </a:p>
        </p:txBody>
      </p:sp>
      <p:sp>
        <p:nvSpPr>
          <p:cNvPr id="13" name="Shape 13"/>
          <p:cNvSpPr/>
          <p:nvPr/>
        </p:nvSpPr>
        <p:spPr>
          <a:xfrm>
            <a:off x="540000" y="304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00000" y="297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역할극 기반 몰입으로 표현 사용 맥락 습득</a:t>
            </a:r>
          </a:p>
        </p:txBody>
      </p:sp>
      <p:sp>
        <p:nvSpPr>
          <p:cNvPr id="15" name="Shape 15"/>
          <p:cNvSpPr/>
          <p:nvPr/>
        </p:nvSpPr>
        <p:spPr>
          <a:xfrm>
            <a:off x="540000" y="347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00000" y="340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대화 후 AI 인사이트로 학습 성과 확인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0000" y="4240000"/>
            <a:ext cx="8050000" cy="420000"/>
          </a:xfrm>
          <a:prstGeom prst="roundRect">
            <a:avLst/>
          </a:prstGeom>
          <a:solidFill>
            <a:srgbClr val="1A1A1A"/>
          </a:solidFill>
          <a:ln>
            <a:solidFill>
              <a:srgbClr val="333333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20" b="1">
                <a:solidFill>
                  <a:srgbClr val="FFFFFF"/>
                </a:solidFill>
                <a:latin typeface="Pretendard"/>
                <a:ea typeface="Pretendard"/>
              </a:rPr>
              <a:t>한국어와 한국 문화를 동시에 경험하게 하는 차별화된 회화 메뉴입니다.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000" y="4860000"/>
            <a:ext cx="26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ONUI AI Speech Intelligence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00000" y="4860000"/>
            <a:ext cx="5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>
              <a:alpha val="8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6744000" y="0"/>
            <a:ext cx="2400000" cy="5143500"/>
          </a:xfrm>
          <a:prstGeom prst="rect">
            <a:avLst/>
          </a:prstGeom>
          <a:solidFill>
            <a:srgbClr val="151515">
              <a:alpha val="6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4100000" y="820000"/>
            <a:ext cx="4480000" cy="2820000"/>
          </a:xfrm>
          <a:prstGeom prst="roundRect">
            <a:avLst/>
          </a:prstGeom>
          <a:solidFill>
            <a:srgbClr val="0B0B0B"/>
          </a:solidFill>
          <a:ln>
            <a:solidFill>
              <a:srgbClr val="343434"/>
            </a:solidFill>
          </a:ln>
        </p:spPr>
        <p:txBody>
          <a:bodyPr/>
          <a:lstStyle/>
          <a:p/>
        </p:txBody>
      </p:sp>
      <p:pic>
        <p:nvPicPr>
          <p:cNvPr id="7" name="Screenshot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000" y="960000"/>
            <a:ext cx="4200000" cy="2625000"/>
          </a:xfrm>
          <a:prstGeom prst="rect">
            <a:avLst/>
          </a:prstGeom>
          <a:ln w="12700">
            <a:solidFill>
              <a:srgbClr val="2A2A2A"/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5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 b="1">
                <a:solidFill>
                  <a:srgbClr val="F97316"/>
                </a:solidFill>
                <a:latin typeface="Pretendard"/>
                <a:ea typeface="Pretendard"/>
              </a:rPr>
              <a:t>ONUI GRAMMAR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790000"/>
            <a:ext cx="36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400" b="1">
                <a:solidFill>
                  <a:srgbClr val="FFFFFF"/>
                </a:solidFill>
                <a:latin typeface="Pretendard"/>
                <a:ea typeface="Pretendard"/>
              </a:rPr>
              <a:t>AI 문법 코칭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0000" y="1700000"/>
            <a:ext cx="34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50" b="0">
                <a:solidFill>
                  <a:srgbClr val="D6D6D6"/>
                </a:solidFill>
                <a:latin typeface="Pretendard"/>
                <a:ea typeface="Pretendard"/>
              </a:rPr>
              <a:t>학습자가 입력한 한국어 문장을 AI가 자연스럽고 정확한 표현으로 다듬어 줍니다.</a:t>
            </a:r>
          </a:p>
        </p:txBody>
      </p:sp>
      <p:sp>
        <p:nvSpPr>
          <p:cNvPr id="11" name="Shape 11"/>
          <p:cNvSpPr/>
          <p:nvPr/>
        </p:nvSpPr>
        <p:spPr>
          <a:xfrm>
            <a:off x="540000" y="261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0000" y="254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실시간 문법 교정과 자연스러운 표현 제안</a:t>
            </a:r>
          </a:p>
        </p:txBody>
      </p:sp>
      <p:sp>
        <p:nvSpPr>
          <p:cNvPr id="13" name="Shape 13"/>
          <p:cNvSpPr/>
          <p:nvPr/>
        </p:nvSpPr>
        <p:spPr>
          <a:xfrm>
            <a:off x="540000" y="304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00000" y="297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채팅형 UX로 부담 없이 질문하고 수정 가능</a:t>
            </a:r>
          </a:p>
        </p:txBody>
      </p:sp>
      <p:sp>
        <p:nvSpPr>
          <p:cNvPr id="15" name="Shape 15"/>
          <p:cNvSpPr/>
          <p:nvPr/>
        </p:nvSpPr>
        <p:spPr>
          <a:xfrm>
            <a:off x="540000" y="347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00000" y="340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쓰기·말하기 전 단계의 표현 정확도 향상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0000" y="4240000"/>
            <a:ext cx="8050000" cy="420000"/>
          </a:xfrm>
          <a:prstGeom prst="roundRect">
            <a:avLst/>
          </a:prstGeom>
          <a:solidFill>
            <a:srgbClr val="1A1A1A"/>
          </a:solidFill>
          <a:ln>
            <a:solidFill>
              <a:srgbClr val="333333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20" b="1">
                <a:solidFill>
                  <a:srgbClr val="FFFFFF"/>
                </a:solidFill>
                <a:latin typeface="Pretendard"/>
                <a:ea typeface="Pretendard"/>
              </a:rPr>
              <a:t>교재 문법을 실제 문장 사용 능력으로 연결하는 AI 코칭 기능입니다.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000" y="4860000"/>
            <a:ext cx="26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ONUI AI Speech Intelligence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00000" y="4860000"/>
            <a:ext cx="5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>
              <a:alpha val="8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6744000" y="0"/>
            <a:ext cx="2400000" cy="5143500"/>
          </a:xfrm>
          <a:prstGeom prst="rect">
            <a:avLst/>
          </a:prstGeom>
          <a:solidFill>
            <a:srgbClr val="151515">
              <a:alpha val="6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4100000" y="820000"/>
            <a:ext cx="4480000" cy="2820000"/>
          </a:xfrm>
          <a:prstGeom prst="roundRect">
            <a:avLst/>
          </a:prstGeom>
          <a:solidFill>
            <a:srgbClr val="0B0B0B"/>
          </a:solidFill>
          <a:ln>
            <a:solidFill>
              <a:srgbClr val="343434"/>
            </a:solidFill>
          </a:ln>
        </p:spPr>
        <p:txBody>
          <a:bodyPr/>
          <a:lstStyle/>
          <a:p/>
        </p:txBody>
      </p:sp>
      <p:pic>
        <p:nvPicPr>
          <p:cNvPr id="7" name="Screenshot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000" y="960000"/>
            <a:ext cx="4200000" cy="2625000"/>
          </a:xfrm>
          <a:prstGeom prst="rect">
            <a:avLst/>
          </a:prstGeom>
          <a:ln w="12700">
            <a:solidFill>
              <a:srgbClr val="2A2A2A"/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5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 b="1">
                <a:solidFill>
                  <a:srgbClr val="F97316"/>
                </a:solidFill>
                <a:latin typeface="Pretendard"/>
                <a:ea typeface="Pretendard"/>
              </a:rPr>
              <a:t>AI LESSON MAKER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790000"/>
            <a:ext cx="36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400" b="1">
                <a:solidFill>
                  <a:srgbClr val="FFFFFF"/>
                </a:solidFill>
                <a:latin typeface="Pretendard"/>
                <a:ea typeface="Pretendard"/>
              </a:rPr>
              <a:t>맞춤 교재 생성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0000" y="1700000"/>
            <a:ext cx="34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50" b="0">
                <a:solidFill>
                  <a:srgbClr val="D6D6D6"/>
                </a:solidFill>
                <a:latin typeface="Pretendard"/>
                <a:ea typeface="Pretendard"/>
              </a:rPr>
              <a:t>주제와 수준을 입력하면 AI가 학습자에게 맞는 레슨 콘텐츠를 즉시 생성합니다.</a:t>
            </a:r>
          </a:p>
        </p:txBody>
      </p:sp>
      <p:sp>
        <p:nvSpPr>
          <p:cNvPr id="11" name="Shape 11"/>
          <p:cNvSpPr/>
          <p:nvPr/>
        </p:nvSpPr>
        <p:spPr>
          <a:xfrm>
            <a:off x="540000" y="261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0000" y="254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관심사·레벨 기반 개인화 교재 제작</a:t>
            </a:r>
          </a:p>
        </p:txBody>
      </p:sp>
      <p:sp>
        <p:nvSpPr>
          <p:cNvPr id="13" name="Shape 13"/>
          <p:cNvSpPr/>
          <p:nvPr/>
        </p:nvSpPr>
        <p:spPr>
          <a:xfrm>
            <a:off x="540000" y="304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00000" y="297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본문·표현·퀴즈·이미지 생성까지 확장</a:t>
            </a:r>
          </a:p>
        </p:txBody>
      </p:sp>
      <p:sp>
        <p:nvSpPr>
          <p:cNvPr id="15" name="Shape 15"/>
          <p:cNvSpPr/>
          <p:nvPr/>
        </p:nvSpPr>
        <p:spPr>
          <a:xfrm>
            <a:off x="540000" y="347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00000" y="340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기관 수업 보조 자료와 자기주도 학습에 모두 활용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0000" y="4240000"/>
            <a:ext cx="8050000" cy="420000"/>
          </a:xfrm>
          <a:prstGeom prst="roundRect">
            <a:avLst/>
          </a:prstGeom>
          <a:solidFill>
            <a:srgbClr val="1A1A1A"/>
          </a:solidFill>
          <a:ln>
            <a:solidFill>
              <a:srgbClr val="333333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20" b="1">
                <a:solidFill>
                  <a:srgbClr val="FFFFFF"/>
                </a:solidFill>
                <a:latin typeface="Pretendard"/>
                <a:ea typeface="Pretendard"/>
              </a:rPr>
              <a:t>콘텐츠 제작 시간을 줄이고 학습자 맞춤성을 높이는 생성형 AI 도구입니다.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000" y="4860000"/>
            <a:ext cx="26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ONUI AI Speech Intelligence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00000" y="4860000"/>
            <a:ext cx="5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>
              <a:alpha val="8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6744000" y="0"/>
            <a:ext cx="2400000" cy="5143500"/>
          </a:xfrm>
          <a:prstGeom prst="rect">
            <a:avLst/>
          </a:prstGeom>
          <a:solidFill>
            <a:srgbClr val="151515">
              <a:alpha val="6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4100000" y="820000"/>
            <a:ext cx="4480000" cy="2820000"/>
          </a:xfrm>
          <a:prstGeom prst="roundRect">
            <a:avLst/>
          </a:prstGeom>
          <a:solidFill>
            <a:srgbClr val="0B0B0B"/>
          </a:solidFill>
          <a:ln>
            <a:solidFill>
              <a:srgbClr val="343434"/>
            </a:solidFill>
          </a:ln>
        </p:spPr>
        <p:txBody>
          <a:bodyPr/>
          <a:lstStyle/>
          <a:p/>
        </p:txBody>
      </p:sp>
      <p:pic>
        <p:nvPicPr>
          <p:cNvPr id="7" name="Screenshot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000" y="960000"/>
            <a:ext cx="4200000" cy="2625000"/>
          </a:xfrm>
          <a:prstGeom prst="rect">
            <a:avLst/>
          </a:prstGeom>
          <a:ln w="12700">
            <a:solidFill>
              <a:srgbClr val="2A2A2A"/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5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 b="1">
                <a:solidFill>
                  <a:srgbClr val="F97316"/>
                </a:solidFill>
                <a:latin typeface="Pretendard"/>
                <a:ea typeface="Pretendard"/>
              </a:rPr>
              <a:t>DAILY EXPRESSIONS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790000"/>
            <a:ext cx="36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400" b="1">
                <a:solidFill>
                  <a:srgbClr val="FFFFFF"/>
                </a:solidFill>
                <a:latin typeface="Pretendard"/>
                <a:ea typeface="Pretendard"/>
              </a:rPr>
              <a:t>오늘의 한국어 표현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0000" y="1700000"/>
            <a:ext cx="34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50" b="0">
                <a:solidFill>
                  <a:srgbClr val="D6D6D6"/>
                </a:solidFill>
                <a:latin typeface="Pretendard"/>
                <a:ea typeface="Pretendard"/>
              </a:rPr>
              <a:t>매일 하나의 표현을 문화 맥락과 함께 익혀 자연스러운 한국어 감각을 만듭니다.</a:t>
            </a:r>
          </a:p>
        </p:txBody>
      </p:sp>
      <p:sp>
        <p:nvSpPr>
          <p:cNvPr id="11" name="Shape 11"/>
          <p:cNvSpPr/>
          <p:nvPr/>
        </p:nvSpPr>
        <p:spPr>
          <a:xfrm>
            <a:off x="540000" y="261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0000" y="254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표현·의미·문화 팁을 카드형 UI로 제공</a:t>
            </a:r>
          </a:p>
        </p:txBody>
      </p:sp>
      <p:sp>
        <p:nvSpPr>
          <p:cNvPr id="13" name="Shape 13"/>
          <p:cNvSpPr/>
          <p:nvPr/>
        </p:nvSpPr>
        <p:spPr>
          <a:xfrm>
            <a:off x="540000" y="304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00000" y="297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TTS 청취로 발음과 억양을 함께 학습</a:t>
            </a:r>
          </a:p>
        </p:txBody>
      </p:sp>
      <p:sp>
        <p:nvSpPr>
          <p:cNvPr id="15" name="Shape 15"/>
          <p:cNvSpPr/>
          <p:nvPr/>
        </p:nvSpPr>
        <p:spPr>
          <a:xfrm>
            <a:off x="540000" y="347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00000" y="340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짧은 학습 루틴으로 재방문 습관 형성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0000" y="4240000"/>
            <a:ext cx="8050000" cy="420000"/>
          </a:xfrm>
          <a:prstGeom prst="roundRect">
            <a:avLst/>
          </a:prstGeom>
          <a:solidFill>
            <a:srgbClr val="1A1A1A"/>
          </a:solidFill>
          <a:ln>
            <a:solidFill>
              <a:srgbClr val="333333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20" b="1">
                <a:solidFill>
                  <a:srgbClr val="FFFFFF"/>
                </a:solidFill>
                <a:latin typeface="Pretendard"/>
                <a:ea typeface="Pretendard"/>
              </a:rPr>
              <a:t>가볍지만 꾸준한 학습 접점을 만드는 데일리 리텐션 메뉴입니다.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000" y="4860000"/>
            <a:ext cx="26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ONUI AI Speech Intelligence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00000" y="4860000"/>
            <a:ext cx="5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>
              <a:alpha val="8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6744000" y="0"/>
            <a:ext cx="2400000" cy="5143500"/>
          </a:xfrm>
          <a:prstGeom prst="rect">
            <a:avLst/>
          </a:prstGeom>
          <a:solidFill>
            <a:srgbClr val="151515">
              <a:alpha val="6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4100000" y="820000"/>
            <a:ext cx="4480000" cy="2820000"/>
          </a:xfrm>
          <a:prstGeom prst="roundRect">
            <a:avLst/>
          </a:prstGeom>
          <a:solidFill>
            <a:srgbClr val="0B0B0B"/>
          </a:solidFill>
          <a:ln>
            <a:solidFill>
              <a:srgbClr val="343434"/>
            </a:solidFill>
          </a:ln>
        </p:spPr>
        <p:txBody>
          <a:bodyPr/>
          <a:lstStyle/>
          <a:p/>
        </p:txBody>
      </p:sp>
      <p:pic>
        <p:nvPicPr>
          <p:cNvPr id="7" name="Screenshot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000" y="960000"/>
            <a:ext cx="4200000" cy="2625000"/>
          </a:xfrm>
          <a:prstGeom prst="rect">
            <a:avLst/>
          </a:prstGeom>
          <a:ln w="12700">
            <a:solidFill>
              <a:srgbClr val="2A2A2A"/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5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 b="1">
                <a:solidFill>
                  <a:srgbClr val="F97316"/>
                </a:solidFill>
                <a:latin typeface="Pretendard"/>
                <a:ea typeface="Pretendard"/>
              </a:rPr>
              <a:t>GROWTH REPORTS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790000"/>
            <a:ext cx="36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400" b="1">
                <a:solidFill>
                  <a:srgbClr val="FFFFFF"/>
                </a:solidFill>
                <a:latin typeface="Pretendard"/>
                <a:ea typeface="Pretendard"/>
              </a:rPr>
              <a:t>학습 성과 분석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0000" y="1700000"/>
            <a:ext cx="34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50" b="0">
                <a:solidFill>
                  <a:srgbClr val="D6D6D6"/>
                </a:solidFill>
                <a:latin typeface="Pretendard"/>
                <a:ea typeface="Pretendard"/>
              </a:rPr>
              <a:t>스트릭, 점수, 활동 로그, 정확도 분포를 시각화해 학습 성장을 보여줍니다.</a:t>
            </a:r>
          </a:p>
        </p:txBody>
      </p:sp>
      <p:sp>
        <p:nvSpPr>
          <p:cNvPr id="11" name="Shape 11"/>
          <p:cNvSpPr/>
          <p:nvPr/>
        </p:nvSpPr>
        <p:spPr>
          <a:xfrm>
            <a:off x="540000" y="261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0000" y="254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주간 성과와 유창성 지표를 차트로 확인</a:t>
            </a:r>
          </a:p>
        </p:txBody>
      </p:sp>
      <p:sp>
        <p:nvSpPr>
          <p:cNvPr id="13" name="Shape 13"/>
          <p:cNvSpPr/>
          <p:nvPr/>
        </p:nvSpPr>
        <p:spPr>
          <a:xfrm>
            <a:off x="540000" y="304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00000" y="297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활동 유형별 학습량과 성취 배지 제공</a:t>
            </a:r>
          </a:p>
        </p:txBody>
      </p:sp>
      <p:sp>
        <p:nvSpPr>
          <p:cNvPr id="15" name="Shape 15"/>
          <p:cNvSpPr/>
          <p:nvPr/>
        </p:nvSpPr>
        <p:spPr>
          <a:xfrm>
            <a:off x="540000" y="347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00000" y="340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기관 운영자는 학습 참여와 성과를 데이터로 파악 가능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0000" y="4240000"/>
            <a:ext cx="8050000" cy="420000"/>
          </a:xfrm>
          <a:prstGeom prst="roundRect">
            <a:avLst/>
          </a:prstGeom>
          <a:solidFill>
            <a:srgbClr val="1A1A1A"/>
          </a:solidFill>
          <a:ln>
            <a:solidFill>
              <a:srgbClr val="333333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20" b="1">
                <a:solidFill>
                  <a:srgbClr val="FFFFFF"/>
                </a:solidFill>
                <a:latin typeface="Pretendard"/>
                <a:ea typeface="Pretendard"/>
              </a:rPr>
              <a:t>학습자의 동기 유지와 기관의 성과 관리에 필요한 데이터 기반 리포트입니다.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000" y="4860000"/>
            <a:ext cx="26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ONUI AI Speech Intelligence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00000" y="4860000"/>
            <a:ext cx="5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606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111">
              <a:alpha val="85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0" y="5016500"/>
            <a:ext cx="9144000" cy="127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6744000" y="0"/>
            <a:ext cx="2400000" cy="5143500"/>
          </a:xfrm>
          <a:prstGeom prst="rect">
            <a:avLst/>
          </a:prstGeom>
          <a:solidFill>
            <a:srgbClr val="151515">
              <a:alpha val="6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4100000" y="820000"/>
            <a:ext cx="4480000" cy="2820000"/>
          </a:xfrm>
          <a:prstGeom prst="roundRect">
            <a:avLst/>
          </a:prstGeom>
          <a:solidFill>
            <a:srgbClr val="0B0B0B"/>
          </a:solidFill>
          <a:ln>
            <a:solidFill>
              <a:srgbClr val="343434"/>
            </a:solidFill>
          </a:ln>
        </p:spPr>
        <p:txBody>
          <a:bodyPr/>
          <a:lstStyle/>
          <a:p/>
        </p:txBody>
      </p:sp>
      <p:pic>
        <p:nvPicPr>
          <p:cNvPr id="7" name="Screenshot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000" y="960000"/>
            <a:ext cx="4200000" cy="2625000"/>
          </a:xfrm>
          <a:prstGeom prst="rect">
            <a:avLst/>
          </a:prstGeom>
          <a:ln w="12700">
            <a:solidFill>
              <a:srgbClr val="2A2A2A"/>
            </a:solidFill>
          </a:ln>
        </p:spPr>
      </p:pic>
      <p:sp>
        <p:nvSpPr>
          <p:cNvPr id="8" name="TextBox 8"/>
          <p:cNvSpPr txBox="1"/>
          <p:nvPr/>
        </p:nvSpPr>
        <p:spPr>
          <a:xfrm>
            <a:off x="520000" y="410000"/>
            <a:ext cx="22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 b="1">
                <a:solidFill>
                  <a:srgbClr val="F97316"/>
                </a:solidFill>
                <a:latin typeface="Pretendard"/>
                <a:ea typeface="Pretendard"/>
              </a:rPr>
              <a:t>VALUE PROPOSITION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0000" y="790000"/>
            <a:ext cx="36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3400" b="1">
                <a:solidFill>
                  <a:srgbClr val="FFFFFF"/>
                </a:solidFill>
                <a:latin typeface="Pretendard"/>
                <a:ea typeface="Pretendard"/>
              </a:rPr>
              <a:t>ONUI 도입 가치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0000" y="1700000"/>
            <a:ext cx="3400000" cy="68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550" b="0">
                <a:solidFill>
                  <a:srgbClr val="D6D6D6"/>
                </a:solidFill>
                <a:latin typeface="Pretendard"/>
                <a:ea typeface="Pretendard"/>
              </a:rPr>
              <a:t>ONUI는 한국어 학습의 가장 어려운 지점인 “말하기 피드백과 지속 학습”을 AI로 해결합니다.</a:t>
            </a:r>
          </a:p>
        </p:txBody>
      </p:sp>
      <p:sp>
        <p:nvSpPr>
          <p:cNvPr id="11" name="Shape 11"/>
          <p:cNvSpPr/>
          <p:nvPr/>
        </p:nvSpPr>
        <p:spPr>
          <a:xfrm>
            <a:off x="540000" y="261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00000" y="254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학습자: 언제든 말하고 바로 피드백 받는 개인 튜터 경험</a:t>
            </a:r>
          </a:p>
        </p:txBody>
      </p:sp>
      <p:sp>
        <p:nvSpPr>
          <p:cNvPr id="13" name="Shape 13"/>
          <p:cNvSpPr/>
          <p:nvPr/>
        </p:nvSpPr>
        <p:spPr>
          <a:xfrm>
            <a:off x="540000" y="304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00000" y="297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교육기관: 콘텐츠·평가·리포트를 통합한 운영 효율</a:t>
            </a:r>
          </a:p>
        </p:txBody>
      </p:sp>
      <p:sp>
        <p:nvSpPr>
          <p:cNvPr id="15" name="Shape 15"/>
          <p:cNvSpPr/>
          <p:nvPr/>
        </p:nvSpPr>
        <p:spPr>
          <a:xfrm>
            <a:off x="540000" y="3470000"/>
            <a:ext cx="95000" cy="9500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700000" y="3400000"/>
            <a:ext cx="31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430" b="1">
                <a:solidFill>
                  <a:srgbClr val="F3F3F3"/>
                </a:solidFill>
                <a:latin typeface="Pretendard"/>
                <a:ea typeface="Pretendard"/>
              </a:rPr>
              <a:t>플랫폼: SpeechPro와 생성형 AI를 결합한 확장 가능한 구조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0000" y="4240000"/>
            <a:ext cx="8050000" cy="420000"/>
          </a:xfrm>
          <a:prstGeom prst="roundRect">
            <a:avLst/>
          </a:prstGeom>
          <a:solidFill>
            <a:srgbClr val="1A1A1A"/>
          </a:solidFill>
          <a:ln>
            <a:solidFill>
              <a:srgbClr val="333333"/>
            </a:solidFill>
          </a:ln>
        </p:spPr>
        <p:txBody>
          <a:bodyPr wrap="square" anchor="t">
            <a:spAutoFit/>
          </a:bodyPr>
          <a:lstStyle/>
          <a:p>
            <a:pPr algn="l"/>
            <a:r>
              <a:rPr lang="ko-KR" sz="1320" b="1">
                <a:solidFill>
                  <a:srgbClr val="FFFFFF"/>
                </a:solidFill>
                <a:latin typeface="Pretendard"/>
                <a:ea typeface="Pretendard"/>
              </a:rPr>
              <a:t>발음 평가에서 몰입형 콘텐츠까지, ONUI는 한국어 학습 전 과정을 하나의 제품 경험으로 연결합니다.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0000" y="4860000"/>
            <a:ext cx="260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ONUI AI Speech Intelligence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00000" y="4860000"/>
            <a:ext cx="520000" cy="2000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r"/>
            <a:r>
              <a:rPr lang="ko-KR" sz="900" b="1">
                <a:solidFill>
                  <a:srgbClr val="8A8A8A"/>
                </a:solidFill>
                <a:latin typeface="Pretendard"/>
                <a:ea typeface="Pretendard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570</Words>
  <Application>Microsoft Office PowerPoint</Application>
  <PresentationFormat>화면 슬라이드 쇼(16:9)</PresentationFormat>
  <Paragraphs>148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7" baseType="lpstr">
      <vt:lpstr>페이퍼로지 7 Bold</vt:lpstr>
      <vt:lpstr>Georgia</vt:lpstr>
      <vt:lpstr>페이퍼로지 6 SemiBold</vt:lpstr>
      <vt:lpstr>페이퍼로지 8 ExtraBold</vt:lpstr>
      <vt:lpstr>페이퍼로지 3 Light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ONUI AI Speech Intelligence - Product Introduction</dc:title>
  <dc:subject>PptxGenJS Presentation</dc:subject>
  <dc:creator>ONUI AI Speech Intelligence</dc:creator>
  <cp:lastModifiedBy>Scott Kim</cp:lastModifiedBy>
  <cp:revision>7</cp:revision>
  <dcterms:created xsi:type="dcterms:W3CDTF">2026-04-15T05:10:09Z</dcterms:created>
  <dcterms:modified xsi:type="dcterms:W3CDTF">2026-06-04T02:32:41Z</dcterms:modified>
</cp:coreProperties>
</file>