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Georgia" panose="02040502050405020303" pitchFamily="18" charset="0"/>
      <p:regular r:id="rId13"/>
      <p:bold r:id="rId14"/>
      <p:italic r:id="rId15"/>
      <p:boldItalic r:id="rId16"/>
    </p:embeddedFont>
    <p:embeddedFont>
      <p:font typeface="페이퍼로지 3 Light" pitchFamily="2" charset="-127"/>
      <p:regular r:id="rId17"/>
    </p:embeddedFont>
    <p:embeddedFont>
      <p:font typeface="페이퍼로지 6 SemiBold" pitchFamily="2" charset="-127"/>
      <p:bold r:id="rId18"/>
    </p:embeddedFont>
    <p:embeddedFont>
      <p:font typeface="페이퍼로지 7 Bold" pitchFamily="2" charset="-127"/>
      <p:bold r:id="rId19"/>
    </p:embeddedFont>
    <p:embeddedFont>
      <p:font typeface="페이퍼로지 8 ExtraBold" pitchFamily="2" charset="-127"/>
      <p:bold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7680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페이퍼로지 6 SemiBold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페이퍼로지 6 SemiBold" pitchFamily="2" charset="-127"/>
              </a:rPr>
              <a:t>1</a:t>
            </a:fld>
            <a:endParaRPr lang="en-US">
              <a:latin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페이퍼로지 6 SemiBold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페이퍼로지 6 SemiBold" pitchFamily="2" charset="-127"/>
              </a:rPr>
              <a:t>2</a:t>
            </a:fld>
            <a:endParaRPr lang="en-US">
              <a:latin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페이퍼로지 6 SemiBold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페이퍼로지 6 SemiBold" pitchFamily="2" charset="-127"/>
              </a:rPr>
              <a:t>3</a:t>
            </a:fld>
            <a:endParaRPr lang="en-US">
              <a:latin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페이퍼로지 6 SemiBold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페이퍼로지 6 SemiBold" pitchFamily="2" charset="-127"/>
              </a:rPr>
              <a:t>4</a:t>
            </a:fld>
            <a:endParaRPr lang="en-US">
              <a:latin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페이퍼로지 6 SemiBold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페이퍼로지 6 SemiBold" pitchFamily="2" charset="-127"/>
              </a:rPr>
              <a:t>5</a:t>
            </a:fld>
            <a:endParaRPr lang="en-US">
              <a:latin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페이퍼로지 6 SemiBold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페이퍼로지 6 SemiBold" pitchFamily="2" charset="-127"/>
              </a:rPr>
              <a:t>6</a:t>
            </a:fld>
            <a:endParaRPr lang="en-US">
              <a:latin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페이퍼로지 6 SemiBold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페이퍼로지 6 SemiBold" pitchFamily="2" charset="-127"/>
              </a:rPr>
              <a:t>7</a:t>
            </a:fld>
            <a:endParaRPr lang="en-US">
              <a:latin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페이퍼로지 6 SemiBold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페이퍼로지 6 SemiBold" pitchFamily="2" charset="-127"/>
              </a:rPr>
              <a:t>8</a:t>
            </a:fld>
            <a:endParaRPr lang="en-US">
              <a:latin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페이퍼로지 6 SemiBold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페이퍼로지 6 SemiBold" pitchFamily="2" charset="-127"/>
              </a:rPr>
              <a:t>9</a:t>
            </a:fld>
            <a:endParaRPr lang="en-US">
              <a:latin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페이퍼로지 6 SemiBold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페이퍼로지 6 SemiBold" pitchFamily="2" charset="-127"/>
              </a:rPr>
              <a:t>10</a:t>
            </a:fld>
            <a:endParaRPr lang="en-US">
              <a:latin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0D0D0D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42984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45720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FF5F85">
              <a:alpha val="2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389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5F85"/>
                </a:solidFill>
                <a:latin typeface="페이퍼로지 3 Light" pitchFamily="2" charset="-127"/>
              </a:rPr>
              <a:t>NEXT-GEN SPEECH AI</a:t>
            </a:r>
            <a:endParaRPr lang="en-US" sz="850" dirty="0">
              <a:latin typeface="페이퍼로지 3 Light" pitchFamily="2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8686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5F85"/>
                </a:solidFill>
                <a:latin typeface="페이퍼로지 7 Bold" pitchFamily="2" charset="-127"/>
                <a:ea typeface="페이퍼로지 7 Bold" pitchFamily="2" charset="-127"/>
                <a:cs typeface="Arial Black" pitchFamily="34" charset="-120"/>
              </a:rPr>
              <a:t>ONUI</a:t>
            </a:r>
            <a:endParaRPr lang="en-US" sz="5600" dirty="0">
              <a:latin typeface="페이퍼로지 3 Light" pitchFamily="2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15727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페이퍼로지 8 ExtraBold" pitchFamily="2" charset="-127"/>
                <a:ea typeface="페이퍼로지 8 ExtraBold" pitchFamily="2" charset="-127"/>
                <a:cs typeface="Arial" pitchFamily="34" charset="-120"/>
              </a:rPr>
              <a:t>AI Speech Intelligence</a:t>
            </a:r>
            <a:endParaRPr lang="en-US" sz="2200" dirty="0">
              <a:latin typeface="페이퍼로지 3 Light" pitchFamily="2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2240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"Learn Korean Like Me"</a:t>
            </a:r>
            <a:endParaRPr lang="en-US" sz="1400" dirty="0">
              <a:latin typeface="페이퍼로지 3 Light" pitchFamily="2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27889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AAAAAA"/>
                </a:solidFill>
                <a:latin typeface="페이퍼로지 3 Light" pitchFamily="2" charset="-127"/>
                <a:ea typeface="페이퍼로지 3 Light" pitchFamily="2" charset="-127"/>
                <a:cs typeface="Calibri" pitchFamily="34" charset="-120"/>
              </a:rPr>
              <a:t>발음 AI부터 역할극, K-Pop까지</a:t>
            </a:r>
            <a:endParaRPr lang="en-US" sz="1250" dirty="0">
              <a:latin typeface="페이퍼로지 3 Light" pitchFamily="2" charset="-127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AAAAAA"/>
                </a:solidFill>
                <a:latin typeface="페이퍼로지 3 Light" pitchFamily="2" charset="-127"/>
                <a:ea typeface="페이퍼로지 3 Light" pitchFamily="2" charset="-127"/>
                <a:cs typeface="Calibri" pitchFamily="34" charset="-120"/>
              </a:rPr>
              <a:t>한 곳에서 완성하는 AI 한국어 </a:t>
            </a:r>
            <a:r>
              <a:rPr lang="en-US" sz="1250">
                <a:solidFill>
                  <a:srgbClr val="AAAAAA"/>
                </a:solidFill>
                <a:latin typeface="페이퍼로지 3 Light" pitchFamily="2" charset="-127"/>
                <a:ea typeface="페이퍼로지 3 Light" pitchFamily="2" charset="-127"/>
                <a:cs typeface="Calibri" pitchFamily="34" charset="-120"/>
              </a:rPr>
              <a:t>학습 플랫폼</a:t>
            </a:r>
            <a:br>
              <a:rPr lang="en-US" sz="1250">
                <a:solidFill>
                  <a:srgbClr val="AAAAAA"/>
                </a:solidFill>
                <a:latin typeface="페이퍼로지 3 Light" pitchFamily="2" charset="-127"/>
                <a:ea typeface="페이퍼로지 3 Light" pitchFamily="2" charset="-127"/>
                <a:cs typeface="Calibri" pitchFamily="34" charset="-120"/>
              </a:rPr>
            </a:br>
            <a:r>
              <a:rPr lang="en-US" sz="1250">
                <a:solidFill>
                  <a:srgbClr val="AAAAAA"/>
                </a:solidFill>
                <a:latin typeface="페이퍼로지 3 Light" pitchFamily="2" charset="-127"/>
                <a:ea typeface="페이퍼로지 3 Light" pitchFamily="2" charset="-127"/>
                <a:cs typeface="Calibri" pitchFamily="34" charset="-120"/>
              </a:rPr>
              <a:t>(</a:t>
            </a:r>
            <a:r>
              <a:rPr lang="ko-KR" altLang="en-US" sz="1250">
                <a:solidFill>
                  <a:srgbClr val="AAAAAA"/>
                </a:solidFill>
                <a:latin typeface="페이퍼로지 3 Light" pitchFamily="2" charset="-127"/>
                <a:ea typeface="페이퍼로지 3 Light" pitchFamily="2" charset="-127"/>
                <a:cs typeface="Calibri" pitchFamily="34" charset="-120"/>
              </a:rPr>
              <a:t>주</a:t>
            </a:r>
            <a:r>
              <a:rPr lang="en-US" altLang="ko-KR" sz="1250">
                <a:solidFill>
                  <a:srgbClr val="AAAAAA"/>
                </a:solidFill>
                <a:latin typeface="페이퍼로지 3 Light" pitchFamily="2" charset="-127"/>
                <a:ea typeface="페이퍼로지 3 Light" pitchFamily="2" charset="-127"/>
                <a:cs typeface="Calibri" pitchFamily="34" charset="-120"/>
              </a:rPr>
              <a:t>) </a:t>
            </a:r>
            <a:r>
              <a:rPr lang="ko-KR" altLang="en-US" sz="1250">
                <a:solidFill>
                  <a:srgbClr val="AAAAAA"/>
                </a:solidFill>
                <a:latin typeface="페이퍼로지 3 Light" pitchFamily="2" charset="-127"/>
                <a:ea typeface="페이퍼로지 3 Light" pitchFamily="2" charset="-127"/>
                <a:cs typeface="Calibri" pitchFamily="34" charset="-120"/>
              </a:rPr>
              <a:t>미디어젠</a:t>
            </a:r>
            <a:endParaRPr lang="en-US" sz="1250" dirty="0">
              <a:latin typeface="페이퍼로지 3 Light" pitchFamily="2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7200" y="4480560"/>
            <a:ext cx="896112" cy="256032"/>
          </a:xfrm>
          <a:prstGeom prst="roundRect">
            <a:avLst>
              <a:gd name="adj" fmla="val 17857"/>
            </a:avLst>
          </a:prstGeom>
          <a:solidFill>
            <a:srgbClr val="221E1E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4480560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AAAA"/>
                </a:solidFill>
                <a:latin typeface="페이퍼로지 3 Light" pitchFamily="2" charset="-127"/>
              </a:rPr>
              <a:t>SpeechPro AI</a:t>
            </a:r>
            <a:endParaRPr lang="en-US" sz="750" dirty="0">
              <a:latin typeface="페이퍼로지 3 Light" pitchFamily="2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417320" y="4480560"/>
            <a:ext cx="896112" cy="256032"/>
          </a:xfrm>
          <a:prstGeom prst="roundRect">
            <a:avLst>
              <a:gd name="adj" fmla="val 17857"/>
            </a:avLst>
          </a:prstGeom>
          <a:solidFill>
            <a:srgbClr val="221E1E"/>
          </a:solidFill>
          <a:ln/>
        </p:spPr>
      </p:sp>
      <p:sp>
        <p:nvSpPr>
          <p:cNvPr id="14" name="Text 11"/>
          <p:cNvSpPr/>
          <p:nvPr/>
        </p:nvSpPr>
        <p:spPr>
          <a:xfrm>
            <a:off x="1417320" y="4480560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AAAA"/>
                </a:solidFill>
                <a:latin typeface="페이퍼로지 3 Light" pitchFamily="2" charset="-127"/>
              </a:rPr>
              <a:t>4개 언어 지원</a:t>
            </a:r>
            <a:endParaRPr lang="en-US" sz="750" dirty="0">
              <a:latin typeface="페이퍼로지 3 Light" pitchFamily="2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377440" y="4480560"/>
            <a:ext cx="896112" cy="256032"/>
          </a:xfrm>
          <a:prstGeom prst="roundRect">
            <a:avLst>
              <a:gd name="adj" fmla="val 17857"/>
            </a:avLst>
          </a:prstGeom>
          <a:solidFill>
            <a:srgbClr val="221E1E"/>
          </a:solidFill>
          <a:ln/>
        </p:spPr>
      </p:sp>
      <p:sp>
        <p:nvSpPr>
          <p:cNvPr id="16" name="Text 13"/>
          <p:cNvSpPr/>
          <p:nvPr/>
        </p:nvSpPr>
        <p:spPr>
          <a:xfrm>
            <a:off x="2377440" y="4480560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AAAA"/>
                </a:solidFill>
                <a:latin typeface="페이퍼로지 3 Light" pitchFamily="2" charset="-127"/>
              </a:rPr>
              <a:t>Gemini 2.5 Flash</a:t>
            </a:r>
            <a:endParaRPr lang="en-US" sz="750" dirty="0">
              <a:latin typeface="페이퍼로지 3 Light" pitchFamily="2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337560" y="4480560"/>
            <a:ext cx="896112" cy="256032"/>
          </a:xfrm>
          <a:prstGeom prst="roundRect">
            <a:avLst>
              <a:gd name="adj" fmla="val 17857"/>
            </a:avLst>
          </a:prstGeom>
          <a:solidFill>
            <a:srgbClr val="221E1E"/>
          </a:solidFill>
          <a:ln/>
        </p:spPr>
      </p:sp>
      <p:sp>
        <p:nvSpPr>
          <p:cNvPr id="18" name="Text 15"/>
          <p:cNvSpPr/>
          <p:nvPr/>
        </p:nvSpPr>
        <p:spPr>
          <a:xfrm>
            <a:off x="3337560" y="4480560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AAAA"/>
                </a:solidFill>
                <a:latin typeface="페이퍼로지 3 Light" pitchFamily="2" charset="-127"/>
              </a:rPr>
              <a:t>음소 단위 분석</a:t>
            </a:r>
            <a:endParaRPr lang="en-US" sz="750" dirty="0">
              <a:latin typeface="페이퍼로지 3 Light" pitchFamily="2" charset="-127"/>
            </a:endParaRPr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3953257" y="1143953"/>
            <a:ext cx="4824983" cy="30156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F85"/>
                </a:solidFill>
                <a:latin typeface="페이퍼로지 3 Light" pitchFamily="2" charset="-127"/>
              </a:rPr>
              <a:t>THE OPPORTUNITY</a:t>
            </a:r>
            <a:endParaRPr lang="en-US" sz="900" dirty="0">
              <a:latin typeface="페이퍼로지 3 Light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 Black" pitchFamily="34" charset="-120"/>
              </a:rPr>
              <a:t>왜 한국어 학습 시장인가?</a:t>
            </a:r>
            <a:endParaRPr lang="en-US" sz="3200" dirty="0">
              <a:latin typeface="페이퍼로지 3 Light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137160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64008" cy="1371600"/>
          </a:xfrm>
          <a:prstGeom prst="rect">
            <a:avLst/>
          </a:prstGeom>
          <a:solidFill>
            <a:srgbClr val="FF5F8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5F85"/>
                </a:solidFill>
                <a:latin typeface="페이퍼로지 7 Bold" pitchFamily="2" charset="-127"/>
                <a:ea typeface="페이퍼로지 7 Bold" pitchFamily="2" charset="-127"/>
                <a:cs typeface="Arial Black" pitchFamily="34" charset="-120"/>
              </a:rPr>
              <a:t>1억+</a:t>
            </a:r>
            <a:endParaRPr lang="en-US" sz="3400" dirty="0">
              <a:latin typeface="페이퍼로지 3 Light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페이퍼로지 3 Light" pitchFamily="2" charset="-127"/>
              </a:rPr>
              <a:t>글로벌 한국어</a:t>
            </a:r>
            <a:endParaRPr lang="en-US" sz="1100" dirty="0">
              <a:latin typeface="페이퍼로지 3 Light" pitchFamily="2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페이퍼로지 3 Light" pitchFamily="2" charset="-127"/>
              </a:rPr>
              <a:t>학습 인구</a:t>
            </a:r>
            <a:endParaRPr lang="en-US" sz="1100" dirty="0">
              <a:latin typeface="페이퍼로지 3 Light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651760" cy="137160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463040"/>
            <a:ext cx="64008" cy="13716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8C42"/>
                </a:solidFill>
                <a:latin typeface="페이퍼로지 7 Bold" pitchFamily="2" charset="-127"/>
                <a:ea typeface="페이퍼로지 7 Bold" pitchFamily="2" charset="-127"/>
                <a:cs typeface="Arial Black" pitchFamily="34" charset="-120"/>
              </a:rPr>
              <a:t>37%</a:t>
            </a:r>
            <a:endParaRPr lang="en-US" sz="3400" dirty="0">
              <a:latin typeface="페이퍼로지 3 Light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페이퍼로지 3 Light" pitchFamily="2" charset="-127"/>
              </a:rPr>
              <a:t>K-콘텐츠 이후</a:t>
            </a:r>
            <a:endParaRPr lang="en-US" sz="1100" dirty="0">
              <a:latin typeface="페이퍼로지 3 Light" pitchFamily="2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페이퍼로지 3 Light" pitchFamily="2" charset="-127"/>
              </a:rPr>
              <a:t>수요 급증률</a:t>
            </a:r>
            <a:endParaRPr lang="en-US" sz="1100" dirty="0">
              <a:latin typeface="페이퍼로지 3 Light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651760" cy="137160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463040"/>
            <a:ext cx="64008" cy="13716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D4BF"/>
                </a:solidFill>
                <a:latin typeface="페이퍼로지 7 Bold" pitchFamily="2" charset="-127"/>
                <a:ea typeface="페이퍼로지 7 Bold" pitchFamily="2" charset="-127"/>
                <a:cs typeface="Arial Black" pitchFamily="34" charset="-120"/>
              </a:rPr>
              <a:t>#3</a:t>
            </a:r>
            <a:endParaRPr lang="en-US" sz="3400" dirty="0">
              <a:latin typeface="페이퍼로지 3 Light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0936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페이퍼로지 3 Light" pitchFamily="2" charset="-127"/>
              </a:rPr>
              <a:t>전 세계 학습</a:t>
            </a:r>
            <a:endParaRPr lang="en-US" sz="1100" dirty="0">
              <a:latin typeface="페이퍼로지 3 Light" pitchFamily="2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페이퍼로지 3 Light" pitchFamily="2" charset="-127"/>
              </a:rPr>
              <a:t>희망 외국어 순위</a:t>
            </a:r>
            <a:endParaRPr lang="en-US" sz="1100" dirty="0">
              <a:latin typeface="페이퍼로지 3 Light" pitchFamily="2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페이퍼로지 3 Light" pitchFamily="2" charset="-127"/>
              </a:rPr>
              <a:t>기존 학습 방식의 한계</a:t>
            </a:r>
            <a:endParaRPr lang="en-US" sz="1500" dirty="0">
              <a:latin typeface="페이퍼로지 3 Light" pitchFamily="2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4023360" cy="384048"/>
          </a:xfrm>
          <a:prstGeom prst="rect">
            <a:avLst/>
          </a:prstGeom>
          <a:solidFill>
            <a:srgbClr val="221E1E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520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  <a:latin typeface="페이퍼로지 3 Light" pitchFamily="2" charset="-127"/>
              </a:rPr>
              <a:t>❌  발음 피드백이 없는 일방향 콘텐츠</a:t>
            </a:r>
            <a:endParaRPr lang="en-US" sz="1150" dirty="0">
              <a:latin typeface="페이퍼로지 3 Light" pitchFamily="2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54880" y="3520440"/>
            <a:ext cx="4023360" cy="384048"/>
          </a:xfrm>
          <a:prstGeom prst="rect">
            <a:avLst/>
          </a:prstGeom>
          <a:solidFill>
            <a:srgbClr val="221E1E"/>
          </a:solidFill>
          <a:ln/>
        </p:spPr>
      </p:sp>
      <p:sp>
        <p:nvSpPr>
          <p:cNvPr id="20" name="Text 18"/>
          <p:cNvSpPr/>
          <p:nvPr/>
        </p:nvSpPr>
        <p:spPr>
          <a:xfrm>
            <a:off x="4864608" y="3520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  <a:latin typeface="페이퍼로지 3 Light" pitchFamily="2" charset="-127"/>
              </a:rPr>
              <a:t>❌  실전 회화 연습 기회 부족</a:t>
            </a:r>
            <a:endParaRPr lang="en-US" sz="1150" dirty="0">
              <a:latin typeface="페이퍼로지 3 Light" pitchFamily="2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3995928"/>
            <a:ext cx="4023360" cy="384048"/>
          </a:xfrm>
          <a:prstGeom prst="rect">
            <a:avLst/>
          </a:prstGeom>
          <a:solidFill>
            <a:srgbClr val="221E1E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9959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  <a:latin typeface="페이퍼로지 3 Light" pitchFamily="2" charset="-127"/>
              </a:rPr>
              <a:t>❌  학습자 맞춤형 커리큘럼 부재</a:t>
            </a:r>
            <a:endParaRPr lang="en-US" sz="1150" dirty="0">
              <a:latin typeface="페이퍼로지 3 Light" pitchFamily="2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54880" y="3995928"/>
            <a:ext cx="4023360" cy="384048"/>
          </a:xfrm>
          <a:prstGeom prst="rect">
            <a:avLst/>
          </a:prstGeom>
          <a:solidFill>
            <a:srgbClr val="221E1E"/>
          </a:solidFill>
          <a:ln/>
        </p:spPr>
      </p:sp>
      <p:sp>
        <p:nvSpPr>
          <p:cNvPr id="24" name="Text 22"/>
          <p:cNvSpPr/>
          <p:nvPr/>
        </p:nvSpPr>
        <p:spPr>
          <a:xfrm>
            <a:off x="4864608" y="39959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  <a:latin typeface="페이퍼로지 3 Light" pitchFamily="2" charset="-127"/>
              </a:rPr>
              <a:t>❌  문화 맥락 없는 단순 암기 방식</a:t>
            </a:r>
            <a:endParaRPr lang="en-US" sz="1150" dirty="0">
              <a:latin typeface="페이퍼로지 3 Light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F85"/>
                </a:solidFill>
                <a:latin typeface="페이퍼로지 3 Light" pitchFamily="2" charset="-127"/>
              </a:rPr>
              <a:t>PRODUCT OVERVIEW</a:t>
            </a:r>
            <a:endParaRPr lang="en-US" sz="900" dirty="0">
              <a:latin typeface="페이퍼로지 3 Light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 Black" pitchFamily="34" charset="-120"/>
              </a:rPr>
              <a:t>ONUI가 제시하는 해답</a:t>
            </a:r>
            <a:endParaRPr lang="en-US" sz="3200" dirty="0">
              <a:latin typeface="페이퍼로지 3 Light" pitchFamily="2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AAAAAA"/>
                </a:solidFill>
                <a:latin typeface="페이퍼로지 3 Light" pitchFamily="2" charset="-127"/>
              </a:rPr>
              <a:t>ONUI는 AI 발음 평가 엔진(SpeechPro)을 중심으로</a:t>
            </a:r>
            <a:endParaRPr lang="en-US" sz="1250" dirty="0">
              <a:latin typeface="페이퍼로지 3 Light" pitchFamily="2" charset="-127"/>
            </a:endParaRPr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AAAAAA"/>
                </a:solidFill>
                <a:latin typeface="페이퍼로지 3 Light" pitchFamily="2" charset="-127"/>
              </a:rPr>
              <a:t>영상·음악·음성 대화·역할극·맞춤 교재까지</a:t>
            </a:r>
            <a:endParaRPr lang="en-US" sz="1250" dirty="0">
              <a:latin typeface="페이퍼로지 3 Light" pitchFamily="2" charset="-127"/>
            </a:endParaRPr>
          </a:p>
          <a:p>
            <a:pPr marL="0" indent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AAAAAA"/>
                </a:solidFill>
                <a:latin typeface="페이퍼로지 3 Light" pitchFamily="2" charset="-127"/>
              </a:rPr>
              <a:t>통합한 All-in-One 한국어 학습 플랫폼입니다.</a:t>
            </a:r>
            <a:endParaRPr lang="en-US" sz="1250" dirty="0">
              <a:latin typeface="페이퍼로지 3 Light" pitchFamily="2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1783080" cy="86868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514600"/>
            <a:ext cx="1783080" cy="64008"/>
          </a:xfrm>
          <a:prstGeom prst="rect">
            <a:avLst/>
          </a:prstGeom>
          <a:solidFill>
            <a:srgbClr val="FF5F8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243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페이퍼로지 3 Light" pitchFamily="2" charset="-127"/>
              </a:rPr>
              <a:t>🎯 음소 단위 발음 AI</a:t>
            </a:r>
            <a:endParaRPr lang="en-US" sz="1050" dirty="0">
              <a:latin typeface="페이퍼로지 3 Light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8986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페이퍼로지 3 Light" pitchFamily="2" charset="-127"/>
              </a:rPr>
              <a:t>SpeechPro API 기반</a:t>
            </a:r>
            <a:endParaRPr lang="en-US" sz="950" dirty="0">
              <a:latin typeface="페이퍼로지 3 Light" pitchFamily="2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페이퍼로지 3 Light" pitchFamily="2" charset="-127"/>
              </a:rPr>
              <a:t>정밀 발음 분석</a:t>
            </a:r>
            <a:endParaRPr lang="en-US" sz="950" dirty="0">
              <a:latin typeface="페이퍼로지 3 Light" pitchFamily="2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377440" y="2514600"/>
            <a:ext cx="1783080" cy="86868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77440" y="2514600"/>
            <a:ext cx="1783080" cy="64008"/>
          </a:xfrm>
          <a:prstGeom prst="rect">
            <a:avLst/>
          </a:prstGeom>
          <a:solidFill>
            <a:srgbClr val="FF5F85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26243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페이퍼로지 3 Light" pitchFamily="2" charset="-127"/>
              </a:rPr>
              <a:t>🤖 생성형 AI 통합</a:t>
            </a:r>
            <a:endParaRPr lang="en-US" sz="1050" dirty="0">
              <a:latin typeface="페이퍼로지 3 Light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468880" y="28986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페이퍼로지 3 Light" pitchFamily="2" charset="-127"/>
              </a:rPr>
              <a:t>Gemini 2.5 Flash</a:t>
            </a:r>
            <a:endParaRPr lang="en-US" sz="950" dirty="0">
              <a:latin typeface="페이퍼로지 3 Light" pitchFamily="2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페이퍼로지 3 Light" pitchFamily="2" charset="-127"/>
              </a:rPr>
              <a:t>맞춤형 콘텐츠 생성</a:t>
            </a:r>
            <a:endParaRPr lang="en-US" sz="950" dirty="0">
              <a:latin typeface="페이퍼로지 3 Light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1783080" cy="86868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520440"/>
            <a:ext cx="1783080" cy="64008"/>
          </a:xfrm>
          <a:prstGeom prst="rect">
            <a:avLst/>
          </a:prstGeom>
          <a:solidFill>
            <a:srgbClr val="FF5F8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301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페이퍼로지 3 Light" pitchFamily="2" charset="-127"/>
              </a:rPr>
              <a:t>🌏 4개 언어 지원</a:t>
            </a:r>
            <a:endParaRPr lang="en-US" sz="1050" dirty="0">
              <a:latin typeface="페이퍼로지 3 Light" pitchFamily="2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39044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페이퍼로지 3 Light" pitchFamily="2" charset="-127"/>
              </a:rPr>
              <a:t>한·영·日·中</a:t>
            </a:r>
            <a:endParaRPr lang="en-US" sz="950" dirty="0">
              <a:latin typeface="페이퍼로지 3 Light" pitchFamily="2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페이퍼로지 3 Light" pitchFamily="2" charset="-127"/>
              </a:rPr>
              <a:t>다국어 UI</a:t>
            </a:r>
            <a:endParaRPr lang="en-US" sz="950" dirty="0">
              <a:latin typeface="페이퍼로지 3 Light" pitchFamily="2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377440" y="3520440"/>
            <a:ext cx="1783080" cy="86868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377440" y="3520440"/>
            <a:ext cx="1783080" cy="64008"/>
          </a:xfrm>
          <a:prstGeom prst="rect">
            <a:avLst/>
          </a:prstGeom>
          <a:solidFill>
            <a:srgbClr val="FF5F85"/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36301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페이퍼로지 3 Light" pitchFamily="2" charset="-127"/>
              </a:rPr>
              <a:t>📊 학습 데이터 분석</a:t>
            </a:r>
            <a:endParaRPr lang="en-US" sz="1050" dirty="0">
              <a:latin typeface="페이퍼로지 3 Light" pitchFamily="2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468880" y="39044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페이퍼로지 3 Light" pitchFamily="2" charset="-127"/>
              </a:rPr>
              <a:t>스트릭·정확도·학습량</a:t>
            </a:r>
            <a:endParaRPr lang="en-US" sz="950" dirty="0">
              <a:latin typeface="페이퍼로지 3 Light" pitchFamily="2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페이퍼로지 3 Light" pitchFamily="2" charset="-127"/>
              </a:rPr>
              <a:t>종합 대시보드</a:t>
            </a:r>
            <a:endParaRPr lang="en-US" sz="950" dirty="0">
              <a:latin typeface="페이퍼로지 3 Light" pitchFamily="2" charset="-127"/>
            </a:endParaRPr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13440"/>
            <a:ext cx="4644044" cy="2902528"/>
          </a:xfrm>
          <a:prstGeom prst="rect">
            <a:avLst/>
          </a:prstGeom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5F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F85"/>
                </a:solidFill>
                <a:latin typeface="페이퍼로지 3 Light" pitchFamily="2" charset="-127"/>
              </a:rPr>
              <a:t>CORE TECHNOLOGY</a:t>
            </a:r>
            <a:endParaRPr lang="en-US" sz="900" dirty="0">
              <a:latin typeface="페이퍼로지 3 Light" pitchFamily="2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Pronunciation</a:t>
            </a:r>
            <a:r>
              <a:rPr lang="ko-KR" altLang="en-US" sz="3200" b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z="3200" b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Score</a:t>
            </a:r>
            <a:endParaRPr lang="en-US" sz="3200" dirty="0">
              <a:latin typeface="페이퍼로지 3 Light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페이퍼로지 3 Light" pitchFamily="2" charset="-127"/>
              </a:rPr>
              <a:t>음소(音素) 단위 발음 정밀 분석 엔진 — ONUI의 핵심 차별화 기술</a:t>
            </a:r>
            <a:endParaRPr lang="en-US" sz="1300" dirty="0">
              <a:latin typeface="페이퍼로지 3 Light" pitchFamily="2" charset="-127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91640"/>
            <a:ext cx="4405691" cy="2753557"/>
          </a:xfrm>
          <a:prstGeom prst="rect">
            <a:avLst/>
          </a:prstGeom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4846320" y="1691640"/>
            <a:ext cx="3931920" cy="658368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56048" y="176479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F85"/>
                </a:solidFill>
                <a:latin typeface="페이퍼로지 7 Bold" pitchFamily="2" charset="-127"/>
                <a:ea typeface="페이퍼로지 7 Bold" pitchFamily="2" charset="-127"/>
                <a:cs typeface="Arial Black" pitchFamily="34" charset="-120"/>
              </a:rPr>
              <a:t>01</a:t>
            </a:r>
            <a:endParaRPr lang="en-US" sz="1800" dirty="0">
              <a:latin typeface="페이퍼로지 3 Light" pitchFamily="2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40680" y="17465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페이퍼로지 3 Light" pitchFamily="2" charset="-127"/>
              </a:rPr>
              <a:t>3단계 평가 플로우</a:t>
            </a:r>
            <a:endParaRPr lang="en-US" sz="1200" dirty="0">
              <a:latin typeface="페이퍼로지 3 Light" pitchFamily="2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440680" y="2011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페이퍼로지 3 Light" pitchFamily="2" charset="-127"/>
              </a:rPr>
              <a:t>SELECT → RECORD → EVALUATE</a:t>
            </a:r>
            <a:endParaRPr lang="en-US" sz="950" dirty="0">
              <a:latin typeface="페이퍼로지 3 Light" pitchFamily="2" charset="-127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페이퍼로지 3 Light" pitchFamily="2" charset="-127"/>
              </a:rPr>
              <a:t>구조화된 학습 동선</a:t>
            </a:r>
            <a:endParaRPr lang="en-US" sz="950" dirty="0">
              <a:latin typeface="페이퍼로지 3 Light" pitchFamily="2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846320" y="2441448"/>
            <a:ext cx="3931920" cy="658368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56048" y="2514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F85"/>
                </a:solidFill>
                <a:latin typeface="페이퍼로지 7 Bold" pitchFamily="2" charset="-127"/>
                <a:ea typeface="페이퍼로지 7 Bold" pitchFamily="2" charset="-127"/>
                <a:cs typeface="Arial Black" pitchFamily="34" charset="-120"/>
              </a:rPr>
              <a:t>02</a:t>
            </a:r>
            <a:endParaRPr lang="en-US" sz="1800" dirty="0">
              <a:latin typeface="페이퍼로지 3 Light" pitchFamily="2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440680" y="2496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페이퍼로지 3 Light" pitchFamily="2" charset="-127"/>
              </a:rPr>
              <a:t>음소 단위 분석</a:t>
            </a:r>
            <a:endParaRPr lang="en-US" sz="1200" dirty="0">
              <a:latin typeface="페이퍼로지 3 Light" pitchFamily="2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40680" y="27614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페이퍼로지 3 Light" pitchFamily="2" charset="-127"/>
              </a:rPr>
              <a:t>자음/모음 레벨까지</a:t>
            </a:r>
            <a:endParaRPr lang="en-US" sz="950" dirty="0">
              <a:latin typeface="페이퍼로지 3 Light" pitchFamily="2" charset="-127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페이퍼로지 3 Light" pitchFamily="2" charset="-127"/>
              </a:rPr>
              <a:t>정확도 점수 제공</a:t>
            </a:r>
            <a:endParaRPr lang="en-US" sz="950" dirty="0">
              <a:latin typeface="페이퍼로지 3 Light" pitchFamily="2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846320" y="3191256"/>
            <a:ext cx="3931920" cy="658368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956048" y="32644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F85"/>
                </a:solidFill>
                <a:latin typeface="페이퍼로지 7 Bold" pitchFamily="2" charset="-127"/>
                <a:ea typeface="페이퍼로지 7 Bold" pitchFamily="2" charset="-127"/>
                <a:cs typeface="Arial Black" pitchFamily="34" charset="-120"/>
              </a:rPr>
              <a:t>03</a:t>
            </a:r>
            <a:endParaRPr lang="en-US" sz="1800" dirty="0">
              <a:latin typeface="페이퍼로지 3 Light" pitchFamily="2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440680" y="3246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페이퍼로지 3 Light" pitchFamily="2" charset="-127"/>
              </a:rPr>
              <a:t>CEFR 레벨 필터</a:t>
            </a:r>
            <a:endParaRPr lang="en-US" sz="1200" dirty="0">
              <a:latin typeface="페이퍼로지 3 Light" pitchFamily="2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440680" y="35112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페이퍼로지 3 Light" pitchFamily="2" charset="-127"/>
              </a:rPr>
              <a:t>A1~B2 수준별</a:t>
            </a:r>
            <a:endParaRPr lang="en-US" sz="950" dirty="0">
              <a:latin typeface="페이퍼로지 3 Light" pitchFamily="2" charset="-127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페이퍼로지 3 Light" pitchFamily="2" charset="-127"/>
              </a:rPr>
              <a:t>예문 선택 가능</a:t>
            </a:r>
            <a:endParaRPr lang="en-US" sz="950" dirty="0">
              <a:latin typeface="페이퍼로지 3 Light" pitchFamily="2" charset="-12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846320" y="3941064"/>
            <a:ext cx="3931920" cy="658368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956048" y="40142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F85"/>
                </a:solidFill>
                <a:latin typeface="페이퍼로지 7 Bold" pitchFamily="2" charset="-127"/>
                <a:ea typeface="페이퍼로지 7 Bold" pitchFamily="2" charset="-127"/>
                <a:cs typeface="Arial Black" pitchFamily="34" charset="-120"/>
              </a:rPr>
              <a:t>04</a:t>
            </a:r>
            <a:endParaRPr lang="en-US" sz="1800" dirty="0">
              <a:latin typeface="페이퍼로지 3 Light" pitchFamily="2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440680" y="3995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페이퍼로지 3 Light" pitchFamily="2" charset="-127"/>
              </a:rPr>
              <a:t>Free AI Eval</a:t>
            </a:r>
            <a:endParaRPr lang="en-US" sz="1200" dirty="0">
              <a:latin typeface="페이퍼로지 3 Light" pitchFamily="2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440680" y="42611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페이퍼로지 3 Light" pitchFamily="2" charset="-127"/>
              </a:rPr>
              <a:t>자유 문장 입력으로</a:t>
            </a:r>
            <a:endParaRPr lang="en-US" sz="950" dirty="0">
              <a:latin typeface="페이퍼로지 3 Light" pitchFamily="2" charset="-127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페이퍼로지 3 Light" pitchFamily="2" charset="-127"/>
              </a:rPr>
              <a:t>교재 외 발음 연습</a:t>
            </a:r>
            <a:endParaRPr lang="en-US" sz="950" dirty="0">
              <a:latin typeface="페이퍼로지 3 Light" pitchFamily="2" charset="-127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57200" y="4480560"/>
            <a:ext cx="4114800" cy="320040"/>
          </a:xfrm>
          <a:prstGeom prst="rect">
            <a:avLst/>
          </a:prstGeom>
          <a:solidFill>
            <a:srgbClr val="221E1E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4480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42"/>
                </a:solidFill>
                <a:latin typeface="페이퍼로지 3 Light" pitchFamily="2" charset="-127"/>
              </a:rPr>
              <a:t>🏆  랜딩 페이지에서 회원가입 없이 즉시 체험 가능 — 최고의 유입 전환 장치</a:t>
            </a:r>
            <a:endParaRPr lang="en-US" sz="1000" dirty="0">
              <a:latin typeface="페이퍼로지 3 Light" pitchFamily="2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F85"/>
                </a:solidFill>
                <a:latin typeface="페이퍼로지 3 Light" pitchFamily="2" charset="-127"/>
              </a:rPr>
              <a:t>IMMERSIVE LEARNING</a:t>
            </a:r>
            <a:endParaRPr lang="en-US" sz="900" dirty="0">
              <a:latin typeface="페이퍼로지 3 Light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 Black" pitchFamily="34" charset="-120"/>
              </a:rPr>
              <a:t>콘텐츠 기반 몰입 학습</a:t>
            </a:r>
            <a:endParaRPr lang="en-US" sz="3200" dirty="0">
              <a:latin typeface="페이퍼로지 3 Light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14800" cy="352044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4114800" cy="54864"/>
          </a:xfrm>
          <a:prstGeom prst="rect">
            <a:avLst/>
          </a:prstGeom>
          <a:solidFill>
            <a:srgbClr val="FF5F8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페이퍼로지 3 Light" pitchFamily="2" charset="-127"/>
              </a:rPr>
              <a:t>📺  OnuiTube</a:t>
            </a:r>
            <a:endParaRPr lang="en-US" sz="1700" dirty="0">
              <a:latin typeface="페이퍼로지 3 Light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페이퍼로지 3 Light" pitchFamily="2" charset="-127"/>
              </a:rPr>
              <a:t>K-VOD 기반 한/영 이중자막 몰입 학습</a:t>
            </a:r>
            <a:endParaRPr lang="en-US" sz="1050" dirty="0">
              <a:latin typeface="페이퍼로지 3 Light" pitchFamily="2" charset="-127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48840"/>
            <a:ext cx="3794760" cy="2377440"/>
          </a:xfrm>
          <a:prstGeom prst="rect">
            <a:avLst/>
          </a:prstGeom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9" name="Shape 6"/>
          <p:cNvSpPr/>
          <p:nvPr/>
        </p:nvSpPr>
        <p:spPr>
          <a:xfrm>
            <a:off x="548640" y="4663440"/>
            <a:ext cx="841248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466344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5F85"/>
                </a:solidFill>
                <a:latin typeface="페이퍼로지 3 Light" pitchFamily="2" charset="-127"/>
              </a:rPr>
              <a:t>K-Pop</a:t>
            </a:r>
            <a:endParaRPr lang="en-US" sz="850" dirty="0">
              <a:latin typeface="페이퍼로지 3 Light" pitchFamily="2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481328" y="4663440"/>
            <a:ext cx="841248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1481328" y="466344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5F85"/>
                </a:solidFill>
                <a:latin typeface="페이퍼로지 3 Light" pitchFamily="2" charset="-127"/>
              </a:rPr>
              <a:t>Vlog</a:t>
            </a:r>
            <a:endParaRPr lang="en-US" sz="850" dirty="0">
              <a:latin typeface="페이퍼로지 3 Light" pitchFamily="2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414016" y="4663440"/>
            <a:ext cx="841248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2414016" y="466344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5F85"/>
                </a:solidFill>
                <a:latin typeface="페이퍼로지 3 Light" pitchFamily="2" charset="-127"/>
              </a:rPr>
              <a:t>세종학당</a:t>
            </a:r>
            <a:endParaRPr lang="en-US" sz="850" dirty="0">
              <a:latin typeface="페이퍼로지 3 Light" pitchFamily="2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346704" y="4663440"/>
            <a:ext cx="841248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3346704" y="466344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5F85"/>
                </a:solidFill>
                <a:latin typeface="페이퍼로지 3 Light" pitchFamily="2" charset="-127"/>
              </a:rPr>
              <a:t>Grammar</a:t>
            </a:r>
            <a:endParaRPr lang="en-US" sz="850" dirty="0">
              <a:latin typeface="페이퍼로지 3 Light" pitchFamily="2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663440" y="1371600"/>
            <a:ext cx="4114800" cy="352044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1371600"/>
            <a:ext cx="4114800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페이퍼로지 3 Light" pitchFamily="2" charset="-127"/>
              </a:rPr>
              <a:t>🎵  Onui Beats</a:t>
            </a:r>
            <a:endParaRPr lang="en-US" sz="1700" dirty="0">
              <a:latin typeface="페이퍼로지 3 Light" pitchFamily="2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846320" y="1828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페이퍼로지 3 Light" pitchFamily="2" charset="-127"/>
              </a:rPr>
              <a:t>K-Pop 빈칸 채우기 게임으로 어휘·청취 동시 향상</a:t>
            </a:r>
            <a:endParaRPr lang="en-US" sz="1050" dirty="0">
              <a:latin typeface="페이퍼로지 3 Light" pitchFamily="2" charset="-127"/>
            </a:endParaRPr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148840"/>
            <a:ext cx="3794760" cy="2377440"/>
          </a:xfrm>
          <a:prstGeom prst="rect">
            <a:avLst/>
          </a:prstGeom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22" name="Shape 18"/>
          <p:cNvSpPr/>
          <p:nvPr/>
        </p:nvSpPr>
        <p:spPr>
          <a:xfrm>
            <a:off x="4846320" y="4663440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23" name="Text 19"/>
          <p:cNvSpPr/>
          <p:nvPr/>
        </p:nvSpPr>
        <p:spPr>
          <a:xfrm>
            <a:off x="4846320" y="466344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8C42"/>
                </a:solidFill>
                <a:latin typeface="페이퍼로지 3 Light" pitchFamily="2" charset="-127"/>
              </a:rPr>
              <a:t>아리랑</a:t>
            </a:r>
            <a:endParaRPr lang="en-US" sz="850" dirty="0">
              <a:latin typeface="페이퍼로지 3 Light" pitchFamily="2" charset="-127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6080760" y="4663440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25" name="Text 21"/>
          <p:cNvSpPr/>
          <p:nvPr/>
        </p:nvSpPr>
        <p:spPr>
          <a:xfrm>
            <a:off x="6080760" y="466344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8C42"/>
                </a:solidFill>
                <a:latin typeface="페이퍼로지 3 Light" pitchFamily="2" charset="-127"/>
              </a:rPr>
              <a:t>올레길</a:t>
            </a:r>
            <a:endParaRPr lang="en-US" sz="850" dirty="0">
              <a:latin typeface="페이퍼로지 3 Light" pitchFamily="2" charset="-127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7315200" y="4663440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27" name="Text 23"/>
          <p:cNvSpPr/>
          <p:nvPr/>
        </p:nvSpPr>
        <p:spPr>
          <a:xfrm>
            <a:off x="7315200" y="466344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8C42"/>
                </a:solidFill>
                <a:latin typeface="페이퍼로지 3 Light" pitchFamily="2" charset="-127"/>
              </a:rPr>
              <a:t>K-POP Blanks</a:t>
            </a:r>
            <a:endParaRPr lang="en-US" sz="850" dirty="0">
              <a:latin typeface="페이퍼로지 3 Light" pitchFamily="2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F85"/>
                </a:solidFill>
                <a:latin typeface="페이퍼로지 3 Light" pitchFamily="2" charset="-127"/>
              </a:rPr>
              <a:t>AI CONVERSATION</a:t>
            </a:r>
            <a:endParaRPr lang="en-US" sz="900" dirty="0">
              <a:latin typeface="페이퍼로지 3 Light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 Black" pitchFamily="34" charset="-120"/>
              </a:rPr>
              <a:t>AI와 실전 한국어 대화</a:t>
            </a:r>
            <a:endParaRPr lang="en-US" sz="3200" dirty="0">
              <a:latin typeface="페이퍼로지 3 Light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14800" cy="352044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41148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페이퍼로지 3 Light" pitchFamily="2" charset="-127"/>
              </a:rPr>
              <a:t>📞  AI Voice Call</a:t>
            </a:r>
            <a:endParaRPr lang="en-US" sz="1700" dirty="0">
              <a:latin typeface="페이퍼로지 3 Light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페이퍼로지 3 Light" pitchFamily="2" charset="-127"/>
              </a:rPr>
              <a:t>실시간 STT→AI→TTS 파이프라인 회화 연습</a:t>
            </a:r>
            <a:endParaRPr lang="en-US" sz="1050" dirty="0">
              <a:latin typeface="페이퍼로지 3 Light" pitchFamily="2" charset="-127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48840"/>
            <a:ext cx="3794760" cy="2377440"/>
          </a:xfrm>
          <a:prstGeom prst="rect">
            <a:avLst/>
          </a:prstGeom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9" name="Shape 6"/>
          <p:cNvSpPr/>
          <p:nvPr/>
        </p:nvSpPr>
        <p:spPr>
          <a:xfrm>
            <a:off x="548640" y="4663440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4663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D4BF"/>
                </a:solidFill>
                <a:latin typeface="페이퍼로지 3 Light" pitchFamily="2" charset="-127"/>
              </a:rPr>
              <a:t>☕ 카페 주문</a:t>
            </a:r>
            <a:endParaRPr lang="en-US" sz="850" dirty="0">
              <a:latin typeface="페이퍼로지 3 Light" pitchFamily="2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847088" y="4663440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1847088" y="4663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D4BF"/>
                </a:solidFill>
                <a:latin typeface="페이퍼로지 3 Light" pitchFamily="2" charset="-127"/>
              </a:rPr>
              <a:t>✈️ 공항 체크인</a:t>
            </a:r>
            <a:endParaRPr lang="en-US" sz="850" dirty="0">
              <a:latin typeface="페이퍼로지 3 Light" pitchFamily="2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145536" y="4663440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3145536" y="4663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D4BF"/>
                </a:solidFill>
                <a:latin typeface="페이퍼로지 3 Light" pitchFamily="2" charset="-127"/>
              </a:rPr>
              <a:t>🏥 병원</a:t>
            </a:r>
            <a:endParaRPr lang="en-US" sz="850" dirty="0">
              <a:latin typeface="페이퍼로지 3 Light" pitchFamily="2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63440" y="1371600"/>
            <a:ext cx="4114800" cy="352044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1371600"/>
            <a:ext cx="4114800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7" name="Text 14"/>
          <p:cNvSpPr/>
          <p:nvPr/>
        </p:nvSpPr>
        <p:spPr>
          <a:xfrm>
            <a:off x="4846320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페이퍼로지 3 Light" pitchFamily="2" charset="-127"/>
              </a:rPr>
              <a:t>🎭  AI Roleplay</a:t>
            </a:r>
            <a:endParaRPr lang="en-US" sz="1700" dirty="0">
              <a:latin typeface="페이퍼로지 3 Light" pitchFamily="2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846320" y="1828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페이퍼로지 3 Light" pitchFamily="2" charset="-127"/>
              </a:rPr>
              <a:t>한국 역사 인물과 대화하며 언어+역사 동시 학습</a:t>
            </a:r>
            <a:endParaRPr lang="en-US" sz="1050" dirty="0">
              <a:latin typeface="페이퍼로지 3 Light" pitchFamily="2" charset="-127"/>
            </a:endParaRPr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148840"/>
            <a:ext cx="3794760" cy="2377440"/>
          </a:xfrm>
          <a:prstGeom prst="rect">
            <a:avLst/>
          </a:prstGeom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20" name="Shape 16"/>
          <p:cNvSpPr/>
          <p:nvPr/>
        </p:nvSpPr>
        <p:spPr>
          <a:xfrm>
            <a:off x="4846320" y="4663440"/>
            <a:ext cx="1170432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21" name="Text 17"/>
          <p:cNvSpPr/>
          <p:nvPr/>
        </p:nvSpPr>
        <p:spPr>
          <a:xfrm>
            <a:off x="4846320" y="4663440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8C42"/>
                </a:solidFill>
                <a:latin typeface="페이퍼로지 3 Light" pitchFamily="2" charset="-127"/>
              </a:rPr>
              <a:t>세종대왕</a:t>
            </a:r>
            <a:endParaRPr lang="en-US" sz="850" dirty="0">
              <a:latin typeface="페이퍼로지 3 Light" pitchFamily="2" charset="-127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6126480" y="4663440"/>
            <a:ext cx="1170432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23" name="Text 19"/>
          <p:cNvSpPr/>
          <p:nvPr/>
        </p:nvSpPr>
        <p:spPr>
          <a:xfrm>
            <a:off x="6126480" y="4663440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8C42"/>
                </a:solidFill>
                <a:latin typeface="페이퍼로지 3 Light" pitchFamily="2" charset="-127"/>
              </a:rPr>
              <a:t>이순신</a:t>
            </a:r>
            <a:endParaRPr lang="en-US" sz="850" dirty="0">
              <a:latin typeface="페이퍼로지 3 Light" pitchFamily="2" charset="-127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7406640" y="4663440"/>
            <a:ext cx="1170432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25" name="Text 21"/>
          <p:cNvSpPr/>
          <p:nvPr/>
        </p:nvSpPr>
        <p:spPr>
          <a:xfrm>
            <a:off x="7406640" y="4663440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8C42"/>
                </a:solidFill>
                <a:latin typeface="페이퍼로지 3 Light" pitchFamily="2" charset="-127"/>
              </a:rPr>
              <a:t>신사임당</a:t>
            </a:r>
            <a:endParaRPr lang="en-US" sz="850" dirty="0">
              <a:latin typeface="페이퍼로지 3 Light" pitchFamily="2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F85"/>
                </a:solidFill>
                <a:latin typeface="페이퍼로지 3 Light" pitchFamily="2" charset="-127"/>
              </a:rPr>
              <a:t>AI-POWERED TOOLS</a:t>
            </a:r>
            <a:endParaRPr lang="en-US" sz="900" dirty="0">
              <a:latin typeface="페이퍼로지 3 Light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 Black" pitchFamily="34" charset="-120"/>
              </a:rPr>
              <a:t>맞춤형 AI 학습 도구</a:t>
            </a:r>
            <a:endParaRPr lang="en-US" sz="3200" dirty="0">
              <a:latin typeface="페이퍼로지 3 Light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14800" cy="352044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4114800" cy="54864"/>
          </a:xfrm>
          <a:prstGeom prst="rect">
            <a:avLst/>
          </a:prstGeom>
          <a:solidFill>
            <a:srgbClr val="FF5F8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페이퍼로지 3 Light" pitchFamily="2" charset="-127"/>
              </a:rPr>
              <a:t>📘  AI Lesson Maker</a:t>
            </a:r>
            <a:endParaRPr lang="en-US" sz="1700" dirty="0">
              <a:latin typeface="페이퍼로지 3 Light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페이퍼로지 3 Light" pitchFamily="2" charset="-127"/>
              </a:rPr>
              <a:t>주제·레벨 입력 → AI 맞춤 교재 즉시 생성</a:t>
            </a:r>
            <a:endParaRPr lang="en-US" sz="1050" dirty="0">
              <a:latin typeface="페이퍼로지 3 Light" pitchFamily="2" charset="-127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48840"/>
            <a:ext cx="3794760" cy="2377440"/>
          </a:xfrm>
          <a:prstGeom prst="rect">
            <a:avLst/>
          </a:prstGeom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502920" y="46360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5F85"/>
                </a:solidFill>
                <a:latin typeface="페이퍼로지 3 Light" pitchFamily="2" charset="-127"/>
              </a:rPr>
              <a:t>🔑 Interactive Coach로 생성 교재에 대한 AI 추가 질문 가능</a:t>
            </a:r>
            <a:endParaRPr lang="en-US" sz="850" dirty="0">
              <a:latin typeface="페이퍼로지 3 Light" pitchFamily="2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114800" cy="352044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371600"/>
            <a:ext cx="4114800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페이퍼로지 3 Light" pitchFamily="2" charset="-127"/>
              </a:rPr>
              <a:t>✨  Daily Expression</a:t>
            </a:r>
            <a:endParaRPr lang="en-US" sz="1700" dirty="0">
              <a:latin typeface="페이퍼로지 3 Light" pitchFamily="2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846320" y="1828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페이퍼로지 3 Light" pitchFamily="2" charset="-127"/>
              </a:rPr>
              <a:t>매일 한국 문화 맥락과 함께 표현 자연 습득</a:t>
            </a:r>
            <a:endParaRPr lang="en-US" sz="1050" dirty="0">
              <a:latin typeface="페이퍼로지 3 Light" pitchFamily="2" charset="-127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148840"/>
            <a:ext cx="3794760" cy="2377440"/>
          </a:xfrm>
          <a:prstGeom prst="rect">
            <a:avLst/>
          </a:prstGeom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15" name="Text 11"/>
          <p:cNvSpPr/>
          <p:nvPr/>
        </p:nvSpPr>
        <p:spPr>
          <a:xfrm>
            <a:off x="4800600" y="46360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8C42"/>
                </a:solidFill>
                <a:latin typeface="페이퍼로지 3 Light" pitchFamily="2" charset="-127"/>
              </a:rPr>
              <a:t>🔑 CEFR A1 수준 카드 24종 + 원어민 TTS 즉시 청취</a:t>
            </a:r>
            <a:endParaRPr lang="en-US" sz="850" dirty="0">
              <a:latin typeface="페이퍼로지 3 Light" pitchFamily="2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F85"/>
                </a:solidFill>
                <a:latin typeface="페이퍼로지 3 Light" pitchFamily="2" charset="-127"/>
              </a:rPr>
              <a:t>LEARNING ANALYTICS</a:t>
            </a:r>
            <a:endParaRPr lang="en-US" sz="900" dirty="0">
              <a:latin typeface="페이퍼로지 3 Light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 Black" pitchFamily="34" charset="-120"/>
              </a:rPr>
              <a:t>데이터로 증명하는 학습 성과</a:t>
            </a:r>
            <a:endParaRPr lang="en-US" sz="3200" dirty="0">
              <a:latin typeface="페이퍼로지 3 Light" pitchFamily="2" charset="-127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607" y="1556454"/>
            <a:ext cx="4763193" cy="2976996"/>
          </a:xfrm>
          <a:prstGeom prst="rect">
            <a:avLst/>
          </a:prstGeom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65760" y="1371600"/>
            <a:ext cx="3200400" cy="77724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페이퍼로지 3 Light" pitchFamily="2" charset="-127"/>
              </a:rPr>
              <a:t>🔥</a:t>
            </a:r>
            <a:endParaRPr lang="en-US" sz="2200" dirty="0">
              <a:latin typeface="페이퍼로지 3 Light" pitchFamily="2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43000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3 Light" pitchFamily="2" charset="-127"/>
              </a:rPr>
              <a:t>Streak</a:t>
            </a:r>
            <a:endParaRPr lang="en-US" sz="1300" dirty="0">
              <a:latin typeface="페이퍼로지 3 Light" pitchFamily="2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43000" y="17373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페이퍼로지 3 Light" pitchFamily="2" charset="-127"/>
              </a:rPr>
              <a:t>연속 </a:t>
            </a:r>
            <a:r>
              <a:rPr lang="en-US" sz="1000">
                <a:solidFill>
                  <a:srgbClr val="AAAAAA"/>
                </a:solidFill>
                <a:latin typeface="페이퍼로지 3 Light" pitchFamily="2" charset="-127"/>
              </a:rPr>
              <a:t>학습일 추적으로 습관 </a:t>
            </a:r>
            <a:r>
              <a:rPr lang="en-US" sz="1000" dirty="0">
                <a:solidFill>
                  <a:srgbClr val="AAAAAA"/>
                </a:solidFill>
                <a:latin typeface="페이퍼로지 3 Light" pitchFamily="2" charset="-127"/>
              </a:rPr>
              <a:t>형성 유도</a:t>
            </a:r>
            <a:endParaRPr lang="en-US" sz="1000" dirty="0">
              <a:latin typeface="페이퍼로지 3 Light" pitchFamily="2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2267712"/>
            <a:ext cx="3200400" cy="77724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페이퍼로지 3 Light" pitchFamily="2" charset="-127"/>
              </a:rPr>
              <a:t>🎯</a:t>
            </a:r>
            <a:endParaRPr lang="en-US" sz="2200" dirty="0">
              <a:latin typeface="페이퍼로지 3 Light" pitchFamily="2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43000" y="2340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3 Light" pitchFamily="2" charset="-127"/>
              </a:rPr>
              <a:t>Avg Accuracy</a:t>
            </a:r>
            <a:endParaRPr lang="en-US" sz="1300" dirty="0">
              <a:latin typeface="페이퍼로지 3 Light" pitchFamily="2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43000" y="26334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페이퍼로지 3 Light" pitchFamily="2" charset="-127"/>
              </a:rPr>
              <a:t>음소 </a:t>
            </a:r>
            <a:r>
              <a:rPr lang="en-US" sz="1000">
                <a:solidFill>
                  <a:srgbClr val="AAAAAA"/>
                </a:solidFill>
                <a:latin typeface="페이퍼로지 3 Light" pitchFamily="2" charset="-127"/>
              </a:rPr>
              <a:t>단위 정확도 기반 </a:t>
            </a:r>
            <a:r>
              <a:rPr lang="en-US" sz="1000" dirty="0">
                <a:solidFill>
                  <a:srgbClr val="AAAAAA"/>
                </a:solidFill>
                <a:latin typeface="페이퍼로지 3 Light" pitchFamily="2" charset="-127"/>
              </a:rPr>
              <a:t>객관적 측정</a:t>
            </a:r>
            <a:endParaRPr lang="en-US" sz="1000" dirty="0">
              <a:latin typeface="페이퍼로지 3 Light" pitchFamily="2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65760" y="3163824"/>
            <a:ext cx="3200400" cy="77724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02920" y="3273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페이퍼로지 3 Light" pitchFamily="2" charset="-127"/>
              </a:rPr>
              <a:t>📈</a:t>
            </a:r>
            <a:endParaRPr lang="en-US" sz="2200" dirty="0">
              <a:latin typeface="페이퍼로지 3 Light" pitchFamily="2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43000" y="32369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3 Light" pitchFamily="2" charset="-127"/>
              </a:rPr>
              <a:t>Weekly Perf</a:t>
            </a:r>
            <a:endParaRPr lang="en-US" sz="1300" dirty="0">
              <a:latin typeface="페이퍼로지 3 Light" pitchFamily="2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143000" y="35295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페이퍼로지 3 Light" pitchFamily="2" charset="-127"/>
              </a:rPr>
              <a:t>Practice / </a:t>
            </a:r>
            <a:r>
              <a:rPr lang="en-US" sz="1000">
                <a:solidFill>
                  <a:srgbClr val="AAAAAA"/>
                </a:solidFill>
                <a:latin typeface="페이퍼로지 3 Light" pitchFamily="2" charset="-127"/>
              </a:rPr>
              <a:t>Score 추이 시각화 </a:t>
            </a:r>
            <a:r>
              <a:rPr lang="en-US" sz="1000" dirty="0">
                <a:solidFill>
                  <a:srgbClr val="AAAAAA"/>
                </a:solidFill>
                <a:latin typeface="페이퍼로지 3 Light" pitchFamily="2" charset="-127"/>
              </a:rPr>
              <a:t>차트</a:t>
            </a:r>
            <a:endParaRPr lang="en-US" sz="1000" dirty="0">
              <a:latin typeface="페이퍼로지 3 Light" pitchFamily="2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65760" y="4059936"/>
            <a:ext cx="3200400" cy="77724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02920" y="4169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페이퍼로지 3 Light" pitchFamily="2" charset="-127"/>
              </a:rPr>
              <a:t>📊</a:t>
            </a:r>
            <a:endParaRPr lang="en-US" sz="2200" dirty="0">
              <a:latin typeface="페이퍼로지 3 Light" pitchFamily="2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43000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3 Light" pitchFamily="2" charset="-127"/>
              </a:rPr>
              <a:t>Accuracy Dist</a:t>
            </a:r>
            <a:endParaRPr lang="en-US" sz="1300" dirty="0">
              <a:latin typeface="페이퍼로지 3 Light" pitchFamily="2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143000" y="44256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페이퍼로지 3 Light" pitchFamily="2" charset="-127"/>
              </a:rPr>
              <a:t>Excellent(90</a:t>
            </a:r>
            <a:r>
              <a:rPr lang="en-US" sz="1000">
                <a:solidFill>
                  <a:srgbClr val="AAAAAA"/>
                </a:solidFill>
                <a:latin typeface="페이퍼로지 3 Light" pitchFamily="2" charset="-127"/>
              </a:rPr>
              <a:t>+) 등 등급별 </a:t>
            </a:r>
            <a:r>
              <a:rPr lang="en-US" sz="1000" dirty="0">
                <a:solidFill>
                  <a:srgbClr val="AAAAAA"/>
                </a:solidFill>
                <a:latin typeface="페이퍼로지 3 Light" pitchFamily="2" charset="-127"/>
              </a:rPr>
              <a:t>분포 분석</a:t>
            </a:r>
            <a:endParaRPr lang="en-US" sz="1000" dirty="0">
              <a:latin typeface="페이퍼로지 3 Light" pitchFamily="2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F85"/>
                </a:solidFill>
                <a:latin typeface="페이퍼로지 3 Light" pitchFamily="2" charset="-127"/>
              </a:rPr>
              <a:t>TECHNOLOGY STACK</a:t>
            </a:r>
            <a:endParaRPr lang="en-US" sz="900" dirty="0">
              <a:latin typeface="페이퍼로지 3 Light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Arial Black" pitchFamily="34" charset="-120"/>
              </a:rPr>
              <a:t>검증된 기술 스택</a:t>
            </a:r>
            <a:endParaRPr lang="en-US" sz="3200" dirty="0">
              <a:latin typeface="페이퍼로지 3 Light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114800" cy="68580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54864" cy="685800"/>
          </a:xfrm>
          <a:prstGeom prst="rect">
            <a:avLst/>
          </a:prstGeom>
          <a:solidFill>
            <a:srgbClr val="FF5F85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4721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F85"/>
                </a:solidFill>
                <a:latin typeface="페이퍼로지 3 Light" pitchFamily="2" charset="-127"/>
              </a:rPr>
              <a:t>Backend</a:t>
            </a:r>
            <a:endParaRPr lang="en-US" sz="1100" dirty="0">
              <a:latin typeface="페이퍼로지 3 Light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0352" y="1746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페이퍼로지 3 Light" pitchFamily="2" charset="-127"/>
              </a:rPr>
              <a:t>FastAPI (Python 3.12) · SQLite</a:t>
            </a:r>
            <a:endParaRPr lang="en-US" sz="1000" dirty="0">
              <a:latin typeface="페이퍼로지 3 Light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114800" cy="68580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417320"/>
            <a:ext cx="54864" cy="6858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0" name="Text 8"/>
          <p:cNvSpPr/>
          <p:nvPr/>
        </p:nvSpPr>
        <p:spPr>
          <a:xfrm>
            <a:off x="4828032" y="14721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42"/>
                </a:solidFill>
                <a:latin typeface="페이퍼로지 3 Light" pitchFamily="2" charset="-127"/>
              </a:rPr>
              <a:t>Frontend</a:t>
            </a:r>
            <a:endParaRPr lang="en-US" sz="1100" dirty="0">
              <a:latin typeface="페이퍼로지 3 Light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28032" y="1746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페이퍼로지 3 Light" pitchFamily="2" charset="-127"/>
              </a:rPr>
              <a:t>Jinja2 Templates · Tailwind CSS</a:t>
            </a:r>
            <a:endParaRPr lang="en-US" sz="1000" dirty="0">
              <a:latin typeface="페이퍼로지 3 Light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2221992"/>
            <a:ext cx="4114800" cy="68580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21992"/>
            <a:ext cx="54864" cy="6858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2768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페이퍼로지 3 Light" pitchFamily="2" charset="-127"/>
              </a:rPr>
              <a:t>AI (LLM)</a:t>
            </a:r>
            <a:endParaRPr lang="en-US" sz="1100" dirty="0">
              <a:latin typeface="페이퍼로지 3 Light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0352" y="25511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페이퍼로지 3 Light" pitchFamily="2" charset="-127"/>
              </a:rPr>
              <a:t>Gemini 2.5 Flash · OpenAI GPT · Ollama EXAONE</a:t>
            </a:r>
            <a:endParaRPr lang="en-US" sz="1000" dirty="0">
              <a:latin typeface="페이퍼로지 3 Light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63440" y="2221992"/>
            <a:ext cx="4114800" cy="68580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221992"/>
            <a:ext cx="54864" cy="6858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4828032" y="22768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페이퍼로지 3 Light" pitchFamily="2" charset="-127"/>
              </a:rPr>
              <a:t>TTS</a:t>
            </a:r>
            <a:endParaRPr lang="en-US" sz="1100" dirty="0">
              <a:latin typeface="페이퍼로지 3 Light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28032" y="25511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페이퍼로지 3 Light" pitchFamily="2" charset="-127"/>
              </a:rPr>
              <a:t>Gemini TTS · OpenAI TTS · Google Cloud TTS · MzTTS</a:t>
            </a:r>
            <a:endParaRPr lang="en-US" sz="1000" dirty="0">
              <a:latin typeface="페이퍼로지 3 Light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5760" y="3026664"/>
            <a:ext cx="4114800" cy="68580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26664"/>
            <a:ext cx="54864" cy="6858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081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페이퍼로지 3 Light" pitchFamily="2" charset="-127"/>
              </a:rPr>
              <a:t>STT</a:t>
            </a:r>
            <a:endParaRPr lang="en-US" sz="1100" dirty="0">
              <a:latin typeface="페이퍼로지 3 Light" pitchFamily="2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0352" y="3355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페이퍼로지 3 Light" pitchFamily="2" charset="-127"/>
              </a:rPr>
              <a:t>Vosk (로컬) · Google Cloud · OpenAI Whisper</a:t>
            </a:r>
            <a:endParaRPr lang="en-US" sz="1000" dirty="0">
              <a:latin typeface="페이퍼로지 3 Light" pitchFamily="2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663440" y="3026664"/>
            <a:ext cx="4114800" cy="68580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026664"/>
            <a:ext cx="54864" cy="685800"/>
          </a:xfrm>
          <a:prstGeom prst="rect">
            <a:avLst/>
          </a:prstGeom>
          <a:solidFill>
            <a:srgbClr val="FF5F85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3081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F85"/>
                </a:solidFill>
                <a:latin typeface="페이퍼로지 3 Light" pitchFamily="2" charset="-127"/>
              </a:rPr>
              <a:t>발음 평가</a:t>
            </a:r>
            <a:endParaRPr lang="en-US" sz="1100" dirty="0">
              <a:latin typeface="페이퍼로지 3 Light" pitchFamily="2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28032" y="3355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페이퍼로지 3 Light" pitchFamily="2" charset="-127"/>
              </a:rPr>
              <a:t>SpeechPro API — 음소 단위 정밀 분석</a:t>
            </a:r>
            <a:endParaRPr lang="en-US" sz="1000" dirty="0">
              <a:latin typeface="페이퍼로지 3 Light" pitchFamily="2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65760" y="3831336"/>
            <a:ext cx="4114800" cy="68580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831336"/>
            <a:ext cx="54864" cy="6858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3886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42"/>
                </a:solidFill>
                <a:latin typeface="페이퍼로지 3 Light" pitchFamily="2" charset="-127"/>
              </a:rPr>
              <a:t>인증</a:t>
            </a:r>
            <a:endParaRPr lang="en-US" sz="1100" dirty="0">
              <a:latin typeface="페이퍼로지 3 Light" pitchFamily="2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30352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페이퍼로지 3 Light" pitchFamily="2" charset="-127"/>
              </a:rPr>
              <a:t>Cookie Session + Google OAuth 2.0</a:t>
            </a:r>
            <a:endParaRPr lang="en-US" sz="1000" dirty="0">
              <a:latin typeface="페이퍼로지 3 Light" pitchFamily="2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663440" y="3831336"/>
            <a:ext cx="4114800" cy="685800"/>
          </a:xfrm>
          <a:prstGeom prst="rect">
            <a:avLst/>
          </a:prstGeom>
          <a:solidFill>
            <a:srgbClr val="1A1818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831336"/>
            <a:ext cx="54864" cy="6858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4" name="Text 32"/>
          <p:cNvSpPr/>
          <p:nvPr/>
        </p:nvSpPr>
        <p:spPr>
          <a:xfrm>
            <a:off x="4828032" y="3886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페이퍼로지 3 Light" pitchFamily="2" charset="-127"/>
              </a:rPr>
              <a:t>다국어</a:t>
            </a:r>
            <a:endParaRPr lang="en-US" sz="1100" dirty="0">
              <a:latin typeface="페이퍼로지 3 Light" pitchFamily="2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828032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페이퍼로지 3 Light" pitchFamily="2" charset="-127"/>
              </a:rPr>
              <a:t>한국어 · English · 日本語 · 中文 (4개 언어)</a:t>
            </a:r>
            <a:endParaRPr lang="en-US" sz="1000" dirty="0">
              <a:latin typeface="페이퍼로지 3 Light" pitchFamily="2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0" y="10058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5F85"/>
                </a:solidFill>
                <a:latin typeface="페이퍼로지 7 Bold" pitchFamily="2" charset="-127"/>
                <a:ea typeface="페이퍼로지 7 Bold" pitchFamily="2" charset="-127"/>
                <a:cs typeface="Arial Black" pitchFamily="34" charset="-120"/>
              </a:rPr>
              <a:t>ONUI</a:t>
            </a:r>
            <a:endParaRPr lang="en-US" sz="6400" dirty="0">
              <a:latin typeface="페이퍼로지 3 Light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0" y="1874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페이퍼로지 3 Light" pitchFamily="2" charset="-127"/>
              </a:rPr>
              <a:t>AI Speech Intelligence</a:t>
            </a:r>
            <a:endParaRPr lang="en-US" sz="2200" dirty="0">
              <a:latin typeface="페이퍼로지 3 Light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0" y="2423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"Learn Korean Like Me"</a:t>
            </a:r>
            <a:endParaRPr lang="en-US" sz="1600" dirty="0">
              <a:latin typeface="페이퍼로지 3 Light" pitchFamily="2" charset="-12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A1818"/>
          </a:solidFill>
          <a:ln/>
        </p:spPr>
      </p:sp>
      <p:sp>
        <p:nvSpPr>
          <p:cNvPr id="8" name="Text 5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페이퍼로지 3 Light" pitchFamily="2" charset="-127"/>
              </a:rPr>
              <a:t>🌏  한국어 학습의 </a:t>
            </a:r>
            <a:r>
              <a:rPr lang="en-US" sz="1500" dirty="0">
                <a:solidFill>
                  <a:srgbClr val="FFFFFF"/>
                </a:solidFill>
                <a:latin typeface="페이퍼로지 3 Light" pitchFamily="2" charset="-127"/>
                <a:ea typeface="페이퍼로지 3 Light" pitchFamily="2" charset="-127"/>
              </a:rPr>
              <a:t>미래, 지금 ONUI</a:t>
            </a:r>
            <a:r>
              <a:rPr lang="en-US" sz="1500">
                <a:solidFill>
                  <a:srgbClr val="FFFFFF"/>
                </a:solidFill>
                <a:latin typeface="페이퍼로지 3 Light" pitchFamily="2" charset="-127"/>
                <a:ea typeface="페이퍼로지 3 Light" pitchFamily="2" charset="-127"/>
              </a:rPr>
              <a:t>에서 시작하세요</a:t>
            </a:r>
            <a:br>
              <a:rPr lang="en-US" sz="1500">
                <a:solidFill>
                  <a:srgbClr val="FFFFFF"/>
                </a:solidFill>
                <a:latin typeface="페이퍼로지 3 Light" pitchFamily="2" charset="-127"/>
                <a:ea typeface="페이퍼로지 3 Light" pitchFamily="2" charset="-127"/>
              </a:rPr>
            </a:br>
            <a:r>
              <a:rPr lang="en-US" sz="1500">
                <a:solidFill>
                  <a:srgbClr val="FFFFFF"/>
                </a:solidFill>
                <a:latin typeface="페이퍼로지 3 Light" pitchFamily="2" charset="-127"/>
                <a:ea typeface="페이퍼로지 3 Light" pitchFamily="2" charset="-127"/>
              </a:rPr>
              <a:t>(</a:t>
            </a:r>
            <a:r>
              <a:rPr lang="ko-KR" altLang="en-US" sz="1500">
                <a:solidFill>
                  <a:srgbClr val="FFFFFF"/>
                </a:solidFill>
                <a:latin typeface="페이퍼로지 3 Light" pitchFamily="2" charset="-127"/>
                <a:ea typeface="페이퍼로지 3 Light" pitchFamily="2" charset="-127"/>
              </a:rPr>
              <a:t>주</a:t>
            </a:r>
            <a:r>
              <a:rPr lang="en-US" altLang="ko-KR" sz="1500">
                <a:solidFill>
                  <a:srgbClr val="FFFFFF"/>
                </a:solidFill>
                <a:latin typeface="페이퍼로지 3 Light" pitchFamily="2" charset="-127"/>
                <a:ea typeface="페이퍼로지 3 Light" pitchFamily="2" charset="-127"/>
              </a:rPr>
              <a:t>)</a:t>
            </a:r>
            <a:r>
              <a:rPr lang="ko-KR" altLang="en-US" sz="1500">
                <a:solidFill>
                  <a:srgbClr val="FFFFFF"/>
                </a:solidFill>
                <a:latin typeface="페이퍼로지 3 Light" pitchFamily="2" charset="-127"/>
                <a:ea typeface="페이퍼로지 3 Light" pitchFamily="2" charset="-127"/>
              </a:rPr>
              <a:t>미디어젠</a:t>
            </a:r>
            <a:endParaRPr lang="en-US" sz="1500" dirty="0"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1261872" cy="292608"/>
          </a:xfrm>
          <a:prstGeom prst="roundRect">
            <a:avLst>
              <a:gd name="adj" fmla="val 18750"/>
            </a:avLst>
          </a:prstGeom>
          <a:solidFill>
            <a:srgbClr val="221E1E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74904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페이퍼로지 3 Light" pitchFamily="2" charset="-127"/>
              </a:rPr>
              <a:t>🎤 SpeechPro</a:t>
            </a:r>
            <a:endParaRPr lang="en-US" sz="900" dirty="0">
              <a:latin typeface="페이퍼로지 3 Light" pitchFamily="2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847088" y="3749040"/>
            <a:ext cx="1261872" cy="292608"/>
          </a:xfrm>
          <a:prstGeom prst="roundRect">
            <a:avLst>
              <a:gd name="adj" fmla="val 18750"/>
            </a:avLst>
          </a:prstGeom>
          <a:solidFill>
            <a:srgbClr val="221E1E"/>
          </a:solidFill>
          <a:ln/>
        </p:spPr>
      </p:sp>
      <p:sp>
        <p:nvSpPr>
          <p:cNvPr id="12" name="Text 9"/>
          <p:cNvSpPr/>
          <p:nvPr/>
        </p:nvSpPr>
        <p:spPr>
          <a:xfrm>
            <a:off x="1847088" y="374904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페이퍼로지 3 Light" pitchFamily="2" charset="-127"/>
              </a:rPr>
              <a:t>📺 OnuiTube</a:t>
            </a:r>
            <a:endParaRPr lang="en-US" sz="900" dirty="0">
              <a:latin typeface="페이퍼로지 3 Light" pitchFamily="2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36976" y="3749040"/>
            <a:ext cx="1261872" cy="292608"/>
          </a:xfrm>
          <a:prstGeom prst="roundRect">
            <a:avLst>
              <a:gd name="adj" fmla="val 18750"/>
            </a:avLst>
          </a:prstGeom>
          <a:solidFill>
            <a:srgbClr val="221E1E"/>
          </a:solidFill>
          <a:ln/>
        </p:spPr>
      </p:sp>
      <p:sp>
        <p:nvSpPr>
          <p:cNvPr id="14" name="Text 11"/>
          <p:cNvSpPr/>
          <p:nvPr/>
        </p:nvSpPr>
        <p:spPr>
          <a:xfrm>
            <a:off x="3236976" y="374904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페이퍼로지 3 Light" pitchFamily="2" charset="-127"/>
              </a:rPr>
              <a:t>🎵 Onui Beats</a:t>
            </a:r>
            <a:endParaRPr lang="en-US" sz="900" dirty="0">
              <a:latin typeface="페이퍼로지 3 Light" pitchFamily="2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26864" y="3749040"/>
            <a:ext cx="1261872" cy="292608"/>
          </a:xfrm>
          <a:prstGeom prst="roundRect">
            <a:avLst>
              <a:gd name="adj" fmla="val 18750"/>
            </a:avLst>
          </a:prstGeom>
          <a:solidFill>
            <a:srgbClr val="221E1E"/>
          </a:solidFill>
          <a:ln/>
        </p:spPr>
      </p:sp>
      <p:sp>
        <p:nvSpPr>
          <p:cNvPr id="16" name="Text 13"/>
          <p:cNvSpPr/>
          <p:nvPr/>
        </p:nvSpPr>
        <p:spPr>
          <a:xfrm>
            <a:off x="4626864" y="374904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페이퍼로지 3 Light" pitchFamily="2" charset="-127"/>
              </a:rPr>
              <a:t>🤖 AI Voice Call</a:t>
            </a:r>
            <a:endParaRPr lang="en-US" sz="900" dirty="0">
              <a:latin typeface="페이퍼로지 3 Light" pitchFamily="2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016752" y="3749040"/>
            <a:ext cx="1261872" cy="292608"/>
          </a:xfrm>
          <a:prstGeom prst="roundRect">
            <a:avLst>
              <a:gd name="adj" fmla="val 18750"/>
            </a:avLst>
          </a:prstGeom>
          <a:solidFill>
            <a:srgbClr val="221E1E"/>
          </a:solidFill>
          <a:ln/>
        </p:spPr>
      </p:sp>
      <p:sp>
        <p:nvSpPr>
          <p:cNvPr id="18" name="Text 15"/>
          <p:cNvSpPr/>
          <p:nvPr/>
        </p:nvSpPr>
        <p:spPr>
          <a:xfrm>
            <a:off x="6016752" y="374904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페이퍼로지 3 Light" pitchFamily="2" charset="-127"/>
              </a:rPr>
              <a:t>🎭 AI Roleplay</a:t>
            </a:r>
            <a:endParaRPr lang="en-US" sz="900" dirty="0">
              <a:latin typeface="페이퍼로지 3 Light" pitchFamily="2" charset="-12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406640" y="3749040"/>
            <a:ext cx="1261872" cy="292608"/>
          </a:xfrm>
          <a:prstGeom prst="roundRect">
            <a:avLst>
              <a:gd name="adj" fmla="val 18750"/>
            </a:avLst>
          </a:prstGeom>
          <a:solidFill>
            <a:srgbClr val="221E1E"/>
          </a:solidFill>
          <a:ln/>
        </p:spPr>
      </p:sp>
      <p:sp>
        <p:nvSpPr>
          <p:cNvPr id="20" name="Text 17"/>
          <p:cNvSpPr/>
          <p:nvPr/>
        </p:nvSpPr>
        <p:spPr>
          <a:xfrm>
            <a:off x="7406640" y="374904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페이퍼로지 3 Light" pitchFamily="2" charset="-127"/>
              </a:rPr>
              <a:t>📘 AI Textbook</a:t>
            </a:r>
            <a:endParaRPr lang="en-US" sz="900" dirty="0">
              <a:latin typeface="페이퍼로지 3 Light" pitchFamily="2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570</Words>
  <Application>Microsoft Office PowerPoint</Application>
  <PresentationFormat>화면 슬라이드 쇼(16:9)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페이퍼로지 7 Bold</vt:lpstr>
      <vt:lpstr>Georgia</vt:lpstr>
      <vt:lpstr>페이퍼로지 6 SemiBold</vt:lpstr>
      <vt:lpstr>페이퍼로지 8 ExtraBold</vt:lpstr>
      <vt:lpstr>페이퍼로지 3 Light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ONUI AI Speech Intelligence - Product Introduction</dc:title>
  <dc:subject>PptxGenJS Presentation</dc:subject>
  <dc:creator>ONUI AI Speech Intelligence</dc:creator>
  <cp:lastModifiedBy>Scott Kim</cp:lastModifiedBy>
  <cp:revision>7</cp:revision>
  <dcterms:created xsi:type="dcterms:W3CDTF">2026-04-15T05:10:09Z</dcterms:created>
  <dcterms:modified xsi:type="dcterms:W3CDTF">2026-06-04T02:32:41Z</dcterms:modified>
</cp:coreProperties>
</file>